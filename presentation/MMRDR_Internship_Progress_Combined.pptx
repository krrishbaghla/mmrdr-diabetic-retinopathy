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image" Target="../media/image-4-2.jpg"/><Relationship Id="rId3" Type="http://schemas.openxmlformats.org/officeDocument/2006/relationships/image" Target="../media/image-4-3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p2_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p2_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p2_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p2_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0"/>
            <a:ext cx="0" cy="5143500"/>
          </a:xfrm>
          <a:prstGeom prst="line">
            <a:avLst/>
          </a:prstGeom>
          <a:noFill/>
          <a:ln w="6350">
            <a:solidFill>
              <a:srgbClr val="1E1E1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011680" y="0"/>
            <a:ext cx="0" cy="5143500"/>
          </a:xfrm>
          <a:prstGeom prst="line">
            <a:avLst/>
          </a:prstGeom>
          <a:noFill/>
          <a:ln w="6350">
            <a:solidFill>
              <a:srgbClr val="1E1E1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017520" y="0"/>
            <a:ext cx="0" cy="5143500"/>
          </a:xfrm>
          <a:prstGeom prst="line">
            <a:avLst/>
          </a:prstGeom>
          <a:noFill/>
          <a:ln w="6350">
            <a:solidFill>
              <a:srgbClr val="1E1E1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023360" y="0"/>
            <a:ext cx="0" cy="5143500"/>
          </a:xfrm>
          <a:prstGeom prst="line">
            <a:avLst/>
          </a:prstGeom>
          <a:noFill/>
          <a:ln w="6350">
            <a:solidFill>
              <a:srgbClr val="1E1E1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0" y="0"/>
            <a:ext cx="0" cy="5143500"/>
          </a:xfrm>
          <a:prstGeom prst="line">
            <a:avLst/>
          </a:prstGeom>
          <a:noFill/>
          <a:ln w="6350">
            <a:solidFill>
              <a:srgbClr val="1E1E1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035040" y="0"/>
            <a:ext cx="0" cy="5143500"/>
          </a:xfrm>
          <a:prstGeom prst="line">
            <a:avLst/>
          </a:prstGeom>
          <a:noFill/>
          <a:ln w="6350">
            <a:solidFill>
              <a:srgbClr val="1E1E1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040880" y="0"/>
            <a:ext cx="0" cy="5143500"/>
          </a:xfrm>
          <a:prstGeom prst="line">
            <a:avLst/>
          </a:prstGeom>
          <a:noFill/>
          <a:ln w="6350">
            <a:solidFill>
              <a:srgbClr val="1E1E1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046720" y="0"/>
            <a:ext cx="0" cy="5143500"/>
          </a:xfrm>
          <a:prstGeom prst="line">
            <a:avLst/>
          </a:prstGeom>
          <a:noFill/>
          <a:ln w="6350">
            <a:solidFill>
              <a:srgbClr val="1E1E1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052560" y="0"/>
            <a:ext cx="0" cy="5143500"/>
          </a:xfrm>
          <a:prstGeom prst="line">
            <a:avLst/>
          </a:prstGeom>
          <a:noFill/>
          <a:ln w="6350">
            <a:solidFill>
              <a:srgbClr val="1E1E1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859536"/>
            <a:ext cx="9144000" cy="0"/>
          </a:xfrm>
          <a:prstGeom prst="line">
            <a:avLst/>
          </a:prstGeom>
          <a:noFill/>
          <a:ln w="6350">
            <a:solidFill>
              <a:srgbClr val="1E1E1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0" y="1719072"/>
            <a:ext cx="9144000" cy="0"/>
          </a:xfrm>
          <a:prstGeom prst="line">
            <a:avLst/>
          </a:prstGeom>
          <a:noFill/>
          <a:ln w="6350">
            <a:solidFill>
              <a:srgbClr val="1E1E1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0" y="2578608"/>
            <a:ext cx="9144000" cy="0"/>
          </a:xfrm>
          <a:prstGeom prst="line">
            <a:avLst/>
          </a:prstGeom>
          <a:noFill/>
          <a:ln w="6350">
            <a:solidFill>
              <a:srgbClr val="1E1E1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0" y="3438144"/>
            <a:ext cx="9144000" cy="0"/>
          </a:xfrm>
          <a:prstGeom prst="line">
            <a:avLst/>
          </a:prstGeom>
          <a:noFill/>
          <a:ln w="6350">
            <a:solidFill>
              <a:srgbClr val="1E1E1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0" y="4297680"/>
            <a:ext cx="9144000" cy="0"/>
          </a:xfrm>
          <a:prstGeom prst="line">
            <a:avLst/>
          </a:prstGeom>
          <a:noFill/>
          <a:ln w="6350">
            <a:solidFill>
              <a:srgbClr val="1E1E1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00400" y="640080"/>
            <a:ext cx="2743200" cy="320040"/>
          </a:xfrm>
          <a:prstGeom prst="roundRect">
            <a:avLst>
              <a:gd name="adj" fmla="val 14286"/>
            </a:avLst>
          </a:prstGeom>
          <a:solidFill>
            <a:srgbClr val="0A2535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0" y="6400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4FC3F7"/>
                </a:solidFill>
              </a:rPr>
              <a:t>RESEARCH INTERNSHIP · IIT BHU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548640" y="114300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spc="800" kern="0" dirty="0">
                <a:solidFill>
                  <a:srgbClr val="FFFFFF"/>
                </a:solidFill>
              </a:rPr>
              <a:t>MMRDR</a:t>
            </a:r>
            <a:endParaRPr lang="en-US" sz="7200" dirty="0"/>
          </a:p>
        </p:txBody>
      </p:sp>
      <p:sp>
        <p:nvSpPr>
          <p:cNvPr id="19" name="Text 17"/>
          <p:cNvSpPr/>
          <p:nvPr/>
        </p:nvSpPr>
        <p:spPr>
          <a:xfrm>
            <a:off x="548640" y="219456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spc="100" kern="0" dirty="0">
                <a:solidFill>
                  <a:srgbClr val="4FC3F7"/>
                </a:solidFill>
              </a:rPr>
              <a:t>Multimodal Retinal Disease Recognition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3200400" y="2880360"/>
            <a:ext cx="2743200" cy="0"/>
          </a:xfrm>
          <a:prstGeom prst="line">
            <a:avLst/>
          </a:prstGeom>
          <a:noFill/>
          <a:ln w="12700">
            <a:solidFill>
              <a:srgbClr val="4FC3F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301752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E9E9E"/>
                </a:solidFill>
              </a:rPr>
              <a:t>Diabetic Retinopathy Grading · Lesion Detection · Custom Architecture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48640" y="438912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55555"/>
                </a:solidFill>
              </a:rPr>
              <a:t>Krrish Baghla  ·  krrishb.mc.24@nitj.ac.in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4FC3F7"/>
                </a:solidFill>
              </a:rPr>
              <a:t>THE DATASET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MMRDR — Multimodal Retinal Image Dataset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371600"/>
            <a:ext cx="2651760" cy="2286000"/>
          </a:xfrm>
          <a:prstGeom prst="roundRect">
            <a:avLst>
              <a:gd name="adj" fmla="val 4000"/>
            </a:avLst>
          </a:prstGeom>
          <a:solidFill>
            <a:srgbClr val="1C1C1C"/>
          </a:solidFill>
          <a:ln/>
          <a:effectLst>
            <a:outerShdw sx="100000" sy="100000" kx="0" ky="0" algn="bl" rotWithShape="0" blurRad="190500" dist="38100" dir="5400000">
              <a:srgbClr val="000000">
                <a:alpha val="5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50876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4FC3F7"/>
                </a:solidFill>
              </a:rPr>
              <a:t>CFP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365760" y="214884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11,118 images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260604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9E9E"/>
                </a:solidFill>
              </a:rPr>
              <a:t>Color Fundus Photography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00400" y="1371600"/>
            <a:ext cx="2651760" cy="2286000"/>
          </a:xfrm>
          <a:prstGeom prst="roundRect">
            <a:avLst>
              <a:gd name="adj" fmla="val 4000"/>
            </a:avLst>
          </a:prstGeom>
          <a:solidFill>
            <a:srgbClr val="1C1C1C"/>
          </a:solidFill>
          <a:ln/>
          <a:effectLst>
            <a:outerShdw sx="100000" sy="100000" kx="0" ky="0" algn="bl" rotWithShape="0" blurRad="190500" dist="38100" dir="5400000">
              <a:srgbClr val="000000">
                <a:alpha val="5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200400" y="150876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B74D"/>
                </a:solidFill>
              </a:rPr>
              <a:t>UWF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3200400" y="214884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10,404 images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200400" y="260604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9E9E"/>
                </a:solidFill>
              </a:rPr>
              <a:t>Ultra-Wide Field Imaging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035040" y="1371600"/>
            <a:ext cx="2651760" cy="2286000"/>
          </a:xfrm>
          <a:prstGeom prst="roundRect">
            <a:avLst>
              <a:gd name="adj" fmla="val 4000"/>
            </a:avLst>
          </a:prstGeom>
          <a:solidFill>
            <a:srgbClr val="1C1C1C"/>
          </a:solidFill>
          <a:ln/>
          <a:effectLst>
            <a:outerShdw sx="100000" sy="100000" kx="0" ky="0" algn="bl" rotWithShape="0" blurRad="190500" dist="38100" dir="5400000">
              <a:srgbClr val="000000">
                <a:alpha val="5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035040" y="150876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81C784"/>
                </a:solidFill>
              </a:rPr>
              <a:t>OCT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6035040" y="214884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2,938 images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035040" y="260604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9E9E"/>
                </a:solidFill>
              </a:rPr>
              <a:t>Optical Coherence Tomography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" y="3886200"/>
            <a:ext cx="2651760" cy="822960"/>
          </a:xfrm>
          <a:prstGeom prst="roundRect">
            <a:avLst>
              <a:gd name="adj" fmla="val 8889"/>
            </a:avLst>
          </a:prstGeom>
          <a:solidFill>
            <a:srgbClr val="0D1F2D"/>
          </a:solidFill>
          <a:ln w="12700">
            <a:solidFill>
              <a:srgbClr val="1A3A5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913632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FC3F7"/>
                </a:solidFill>
              </a:rPr>
              <a:t>5-Grade DR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65760" y="4279392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9E9E"/>
                </a:solidFill>
              </a:rPr>
              <a:t>Severity Scale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200400" y="3886200"/>
            <a:ext cx="2651760" cy="822960"/>
          </a:xfrm>
          <a:prstGeom prst="roundRect">
            <a:avLst>
              <a:gd name="adj" fmla="val 8889"/>
            </a:avLst>
          </a:prstGeom>
          <a:solidFill>
            <a:srgbClr val="0D1F2D"/>
          </a:solidFill>
          <a:ln w="12700">
            <a:solidFill>
              <a:srgbClr val="1A3A5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00400" y="3913632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FC3F7"/>
                </a:solidFill>
              </a:rPr>
              <a:t>7 Lesion Types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200400" y="4279392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9E9E"/>
                </a:solidFill>
              </a:rPr>
              <a:t>Per Image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035040" y="3886200"/>
            <a:ext cx="2651760" cy="822960"/>
          </a:xfrm>
          <a:prstGeom prst="roundRect">
            <a:avLst>
              <a:gd name="adj" fmla="val 8889"/>
            </a:avLst>
          </a:prstGeom>
          <a:solidFill>
            <a:srgbClr val="0D1F2D"/>
          </a:solidFill>
          <a:ln w="12700">
            <a:solidFill>
              <a:srgbClr val="1A3A5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035040" y="3913632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FC3F7"/>
                </a:solidFill>
              </a:rPr>
              <a:t>24,460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035040" y="4279392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9E9E"/>
                </a:solidFill>
              </a:rPr>
              <a:t>Total Images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4FC3F7"/>
                </a:solidFill>
              </a:rPr>
              <a:t>WHAT I DID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Internship Progress — Step by Step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280160"/>
            <a:ext cx="8412480" cy="777240"/>
          </a:xfrm>
          <a:prstGeom prst="roundRect">
            <a:avLst>
              <a:gd name="adj" fmla="val 9412"/>
            </a:avLst>
          </a:prstGeom>
          <a:solidFill>
            <a:srgbClr val="1C1C1C"/>
          </a:solidFill>
          <a:ln/>
        </p:spPr>
      </p:sp>
      <p:sp>
        <p:nvSpPr>
          <p:cNvPr id="5" name="Shape 3"/>
          <p:cNvSpPr/>
          <p:nvPr/>
        </p:nvSpPr>
        <p:spPr>
          <a:xfrm>
            <a:off x="502920" y="1389888"/>
            <a:ext cx="502920" cy="502920"/>
          </a:xfrm>
          <a:prstGeom prst="roundRect">
            <a:avLst>
              <a:gd name="adj" fmla="val 9091"/>
            </a:avLst>
          </a:prstGeom>
          <a:solidFill>
            <a:srgbClr val="0A0A0A"/>
          </a:solidFill>
          <a:ln w="19050">
            <a:solidFill>
              <a:srgbClr val="4FC3F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38988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FC3F7"/>
                </a:solidFill>
              </a:rPr>
              <a:t>01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143000" y="137160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Data Pipeline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43000" y="1673352"/>
            <a:ext cx="7406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E9E9E"/>
                </a:solidFill>
              </a:rPr>
              <a:t>Automated extraction via Figshare API · 80/20 train-test split · 512×512 resolution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65760" y="2194560"/>
            <a:ext cx="8412480" cy="777240"/>
          </a:xfrm>
          <a:prstGeom prst="roundRect">
            <a:avLst>
              <a:gd name="adj" fmla="val 9412"/>
            </a:avLst>
          </a:prstGeom>
          <a:solidFill>
            <a:srgbClr val="1C1C1C"/>
          </a:solidFill>
          <a:ln/>
        </p:spPr>
      </p:sp>
      <p:sp>
        <p:nvSpPr>
          <p:cNvPr id="10" name="Shape 8"/>
          <p:cNvSpPr/>
          <p:nvPr/>
        </p:nvSpPr>
        <p:spPr>
          <a:xfrm>
            <a:off x="502920" y="2304288"/>
            <a:ext cx="502920" cy="502920"/>
          </a:xfrm>
          <a:prstGeom prst="roundRect">
            <a:avLst>
              <a:gd name="adj" fmla="val 9091"/>
            </a:avLst>
          </a:prstGeom>
          <a:solidFill>
            <a:srgbClr val="0A0A0A"/>
          </a:solidFill>
          <a:ln w="19050">
            <a:solidFill>
              <a:srgbClr val="FFB74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30428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B74D"/>
                </a:solidFill>
              </a:rPr>
              <a:t>02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143000" y="228600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Baseline ResNet-50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143000" y="2587752"/>
            <a:ext cx="7406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E9E9E"/>
                </a:solidFill>
              </a:rPr>
              <a:t>5-grade DR classification on CFP · Lesion detection with bounding boxes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3108960"/>
            <a:ext cx="8412480" cy="777240"/>
          </a:xfrm>
          <a:prstGeom prst="roundRect">
            <a:avLst>
              <a:gd name="adj" fmla="val 9412"/>
            </a:avLst>
          </a:prstGeom>
          <a:solidFill>
            <a:srgbClr val="1C1C1C"/>
          </a:solidFill>
          <a:ln/>
        </p:spPr>
      </p:sp>
      <p:sp>
        <p:nvSpPr>
          <p:cNvPr id="15" name="Shape 13"/>
          <p:cNvSpPr/>
          <p:nvPr/>
        </p:nvSpPr>
        <p:spPr>
          <a:xfrm>
            <a:off x="502920" y="3218688"/>
            <a:ext cx="502920" cy="502920"/>
          </a:xfrm>
          <a:prstGeom prst="roundRect">
            <a:avLst>
              <a:gd name="adj" fmla="val 9091"/>
            </a:avLst>
          </a:prstGeom>
          <a:solidFill>
            <a:srgbClr val="0A0A0A"/>
          </a:solidFill>
          <a:ln w="19050">
            <a:solidFill>
              <a:srgbClr val="CE93D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321868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E93D8"/>
                </a:solidFill>
              </a:rPr>
              <a:t>03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143000" y="320040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Eye Masking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143000" y="3502152"/>
            <a:ext cx="7406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E9E9E"/>
                </a:solidFill>
              </a:rPr>
              <a:t>Removed bounding boxes outside retinal boundary · Cleaner detections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65760" y="4023360"/>
            <a:ext cx="8412480" cy="777240"/>
          </a:xfrm>
          <a:prstGeom prst="roundRect">
            <a:avLst>
              <a:gd name="adj" fmla="val 9412"/>
            </a:avLst>
          </a:prstGeom>
          <a:solidFill>
            <a:srgbClr val="1C1C1C"/>
          </a:solidFill>
          <a:ln/>
        </p:spPr>
      </p:sp>
      <p:sp>
        <p:nvSpPr>
          <p:cNvPr id="20" name="Shape 18"/>
          <p:cNvSpPr/>
          <p:nvPr/>
        </p:nvSpPr>
        <p:spPr>
          <a:xfrm>
            <a:off x="502920" y="4133088"/>
            <a:ext cx="502920" cy="502920"/>
          </a:xfrm>
          <a:prstGeom prst="roundRect">
            <a:avLst>
              <a:gd name="adj" fmla="val 9091"/>
            </a:avLst>
          </a:prstGeom>
          <a:solidFill>
            <a:srgbClr val="0A0A0A"/>
          </a:solidFill>
          <a:ln w="19050">
            <a:solidFill>
              <a:srgbClr val="81C78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413308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1C784"/>
                </a:solidFill>
              </a:rPr>
              <a:t>04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143000" y="411480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Custom Architecture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143000" y="4416552"/>
            <a:ext cx="7406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E9E9E"/>
                </a:solidFill>
              </a:rPr>
              <a:t>Multi-scale fusion · Dual-head for grading + lesion · GradCAM explainability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4FC3F7"/>
                </a:solidFill>
              </a:rPr>
              <a:t>BASELINE MODEL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ResNet-50 · Lesion Detection Results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28600" y="1051560"/>
            <a:ext cx="2880360" cy="3017520"/>
          </a:xfrm>
          <a:prstGeom prst="roundRect">
            <a:avLst>
              <a:gd name="adj" fmla="val 2540"/>
            </a:avLst>
          </a:prstGeom>
          <a:solidFill>
            <a:srgbClr val="1C1C1C"/>
          </a:solidFill>
          <a:ln/>
        </p:spPr>
      </p:sp>
      <p:pic>
        <p:nvPicPr>
          <p:cNvPr id="5" name="Image 0" descr="/home/claude/only_resnet_img_1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4320" y="1143000"/>
            <a:ext cx="2788920" cy="25146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28600" y="3657600"/>
            <a:ext cx="2880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9E9E"/>
                </a:solidFill>
              </a:rPr>
              <a:t>PDR · MA + VH detected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3182112" y="1051560"/>
            <a:ext cx="2880360" cy="3017520"/>
          </a:xfrm>
          <a:prstGeom prst="roundRect">
            <a:avLst>
              <a:gd name="adj" fmla="val 2540"/>
            </a:avLst>
          </a:prstGeom>
          <a:solidFill>
            <a:srgbClr val="1C1C1C"/>
          </a:solidFill>
          <a:ln/>
        </p:spPr>
      </p:sp>
      <p:pic>
        <p:nvPicPr>
          <p:cNvPr id="8" name="Image 1" descr="/home/claude/only_resnet_img_2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227832" y="1143000"/>
            <a:ext cx="2788920" cy="25146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182112" y="3657600"/>
            <a:ext cx="2880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9E9E"/>
                </a:solidFill>
              </a:rPr>
              <a:t>PDR · MA + NE + VH</a:t>
            </a:r>
            <a:endParaRPr lang="en-US" sz="1000" dirty="0"/>
          </a:p>
        </p:txBody>
      </p:sp>
      <p:sp>
        <p:nvSpPr>
          <p:cNvPr id="10" name="Shape 6"/>
          <p:cNvSpPr/>
          <p:nvPr/>
        </p:nvSpPr>
        <p:spPr>
          <a:xfrm>
            <a:off x="6135624" y="1051560"/>
            <a:ext cx="2880360" cy="3017520"/>
          </a:xfrm>
          <a:prstGeom prst="roundRect">
            <a:avLst>
              <a:gd name="adj" fmla="val 2540"/>
            </a:avLst>
          </a:prstGeom>
          <a:solidFill>
            <a:srgbClr val="1C1C1C"/>
          </a:solidFill>
          <a:ln/>
        </p:spPr>
      </p:sp>
      <p:pic>
        <p:nvPicPr>
          <p:cNvPr id="11" name="Image 2" descr="/home/claude/only_resnet_img_3.jp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181344" y="1143000"/>
            <a:ext cx="2788920" cy="251460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135624" y="3657600"/>
            <a:ext cx="2880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9E9E"/>
                </a:solidFill>
              </a:rPr>
              <a:t>Severe · MA + IH + HE</a:t>
            </a:r>
            <a:endParaRPr lang="en-US" sz="1000" dirty="0"/>
          </a:p>
        </p:txBody>
      </p:sp>
      <p:sp>
        <p:nvSpPr>
          <p:cNvPr id="13" name="Shape 8"/>
          <p:cNvSpPr/>
          <p:nvPr/>
        </p:nvSpPr>
        <p:spPr>
          <a:xfrm>
            <a:off x="457200" y="4160520"/>
            <a:ext cx="8229600" cy="685800"/>
          </a:xfrm>
          <a:prstGeom prst="roundRect">
            <a:avLst>
              <a:gd name="adj" fmla="val 10667"/>
            </a:avLst>
          </a:prstGeom>
          <a:solidFill>
            <a:srgbClr val="1A0F0F"/>
          </a:solidFill>
          <a:ln w="12700">
            <a:solidFill>
              <a:srgbClr val="FF5252"/>
            </a:solidFill>
            <a:prstDash val="solid"/>
          </a:ln>
        </p:spPr>
      </p:sp>
      <p:sp>
        <p:nvSpPr>
          <p:cNvPr id="14" name="Text 9"/>
          <p:cNvSpPr/>
          <p:nvPr/>
        </p:nvSpPr>
        <p:spPr>
          <a:xfrm>
            <a:off x="640080" y="4187952"/>
            <a:ext cx="78638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5252"/>
                </a:solidFill>
              </a:rPr>
              <a:t>⚠  Issue: Bounding boxes were being predicted outside the retinal boundary → Led to custom architecture + eye masking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4FC3F7"/>
                </a:solidFill>
              </a:rPr>
              <a:t>BASELINE RESULTS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ResNet-50 — Performance Metrics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2651760" cy="1188720"/>
          </a:xfrm>
          <a:prstGeom prst="roundRect">
            <a:avLst>
              <a:gd name="adj" fmla="val 7692"/>
            </a:avLst>
          </a:prstGeom>
          <a:solidFill>
            <a:srgbClr val="1C1C1C"/>
          </a:solidFill>
          <a:ln/>
          <a:effectLst>
            <a:outerShdw sx="100000" sy="100000" kx="0" ky="0" algn="bl" rotWithShape="0" blurRad="254000" dist="50800" dir="5400000">
              <a:srgbClr val="000000">
                <a:alpha val="6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170432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4FC3F7"/>
                </a:solidFill>
              </a:rPr>
              <a:t>82.33%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365760" y="1810512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E9E9E"/>
                </a:solidFill>
              </a:rPr>
              <a:t>Grade Accuracy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00400" y="1097280"/>
            <a:ext cx="2651760" cy="1188720"/>
          </a:xfrm>
          <a:prstGeom prst="roundRect">
            <a:avLst>
              <a:gd name="adj" fmla="val 7692"/>
            </a:avLst>
          </a:prstGeom>
          <a:solidFill>
            <a:srgbClr val="1C1C1C"/>
          </a:solidFill>
          <a:ln/>
          <a:effectLst>
            <a:outerShdw sx="100000" sy="100000" kx="0" ky="0" algn="bl" rotWithShape="0" blurRad="254000" dist="50800" dir="5400000">
              <a:srgbClr val="000000">
                <a:alpha val="6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200400" y="1170432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B74D"/>
                </a:solidFill>
              </a:rPr>
              <a:t>74.53%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3200400" y="1810512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E9E9E"/>
                </a:solidFill>
              </a:rPr>
              <a:t>Macro F1-Score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035040" y="1097280"/>
            <a:ext cx="2651760" cy="1188720"/>
          </a:xfrm>
          <a:prstGeom prst="roundRect">
            <a:avLst>
              <a:gd name="adj" fmla="val 7692"/>
            </a:avLst>
          </a:prstGeom>
          <a:solidFill>
            <a:srgbClr val="1C1C1C"/>
          </a:solidFill>
          <a:ln/>
          <a:effectLst>
            <a:outerShdw sx="100000" sy="100000" kx="0" ky="0" algn="bl" rotWithShape="0" blurRad="254000" dist="50800" dir="5400000">
              <a:srgbClr val="000000">
                <a:alpha val="6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035040" y="1170432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81C784"/>
                </a:solidFill>
              </a:rPr>
              <a:t>96.49%</a:t>
            </a:r>
            <a:endParaRPr lang="en-US" sz="3800" dirty="0"/>
          </a:p>
        </p:txBody>
      </p:sp>
      <p:sp>
        <p:nvSpPr>
          <p:cNvPr id="12" name="Text 10"/>
          <p:cNvSpPr/>
          <p:nvPr/>
        </p:nvSpPr>
        <p:spPr>
          <a:xfrm>
            <a:off x="6035040" y="1810512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E9E9E"/>
                </a:solidFill>
              </a:rPr>
              <a:t>Lesion AUC-ROC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65760" y="245059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E9E9E"/>
                </a:solidFill>
              </a:rPr>
              <a:t>Training Terminal Output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2706624"/>
            <a:ext cx="8412480" cy="2194560"/>
          </a:xfrm>
          <a:prstGeom prst="roundRect">
            <a:avLst>
              <a:gd name="adj" fmla="val 3333"/>
            </a:avLst>
          </a:prstGeom>
          <a:solidFill>
            <a:srgbClr val="050505"/>
          </a:solidFill>
          <a:ln w="12700">
            <a:solidFill>
              <a:srgbClr val="2A2A2A"/>
            </a:solidFill>
            <a:prstDash val="solid"/>
          </a:ln>
        </p:spPr>
      </p:sp>
      <p:pic>
        <p:nvPicPr>
          <p:cNvPr id="15" name="Image 0" descr="/home/claude/only_resnet_result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2798064"/>
            <a:ext cx="804672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1C784"/>
                </a:solidFill>
              </a:rPr>
              <a:t>CUSTOM ARCHITECTURE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Modified ResNet-50 · Multi-Scale Dual-Head</a:t>
            </a:r>
            <a:endParaRPr lang="en-US" sz="2400" dirty="0"/>
          </a:p>
        </p:txBody>
      </p:sp>
      <p:pic>
        <p:nvPicPr>
          <p:cNvPr id="4" name="Image 0" descr="/home/claude/custom_resnet_architecture.jpe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65760" y="1005840"/>
            <a:ext cx="8412480" cy="37947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1C784"/>
                </a:solidFill>
              </a:rPr>
              <a:t>HOW IT WORKS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Architecture Highlights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20040" y="1143000"/>
            <a:ext cx="2697480" cy="1691640"/>
          </a:xfrm>
          <a:prstGeom prst="roundRect">
            <a:avLst>
              <a:gd name="adj" fmla="val 5405"/>
            </a:avLst>
          </a:prstGeom>
          <a:solidFill>
            <a:srgbClr val="1C1C1C"/>
          </a:solidFill>
          <a:ln/>
          <a:effectLst>
            <a:outerShdw sx="100000" sy="100000" kx="0" ky="0" algn="bl" rotWithShape="0" blurRad="152400" dist="38100" dir="5400000">
              <a:srgbClr val="000000">
                <a:alpha val="4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307592"/>
            <a:ext cx="274320" cy="274320"/>
          </a:xfrm>
          <a:prstGeom prst="ellipse">
            <a:avLst/>
          </a:prstGeom>
          <a:solidFill>
            <a:srgbClr val="4FC3F7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280160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Low-Res Branch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709928"/>
            <a:ext cx="2423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E9E9E"/>
                </a:solidFill>
              </a:rPr>
              <a:t>Early features [256×128×128] via ResNet Layer1 → fine detail preservation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172968" y="1143000"/>
            <a:ext cx="2697480" cy="1691640"/>
          </a:xfrm>
          <a:prstGeom prst="roundRect">
            <a:avLst>
              <a:gd name="adj" fmla="val 5405"/>
            </a:avLst>
          </a:prstGeom>
          <a:solidFill>
            <a:srgbClr val="1C1C1C"/>
          </a:solidFill>
          <a:ln/>
          <a:effectLst>
            <a:outerShdw sx="100000" sy="100000" kx="0" ky="0" algn="bl" rotWithShape="0" blurRad="152400" dist="38100" dir="5400000">
              <a:srgbClr val="000000">
                <a:alpha val="4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310128" y="1307592"/>
            <a:ext cx="274320" cy="274320"/>
          </a:xfrm>
          <a:prstGeom prst="ellipse">
            <a:avLst/>
          </a:prstGeom>
          <a:solidFill>
            <a:srgbClr val="FFB74D"/>
          </a:solidFill>
          <a:ln/>
        </p:spPr>
      </p:sp>
      <p:sp>
        <p:nvSpPr>
          <p:cNvPr id="10" name="Text 8"/>
          <p:cNvSpPr/>
          <p:nvPr/>
        </p:nvSpPr>
        <p:spPr>
          <a:xfrm>
            <a:off x="3675888" y="1280160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Deep Semantic Branch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310128" y="1709928"/>
            <a:ext cx="2423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E9E9E"/>
                </a:solidFill>
              </a:rPr>
              <a:t>Global context [2048×16×16] via Layers 2–4 → high-level understanding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025896" y="1143000"/>
            <a:ext cx="2697480" cy="1691640"/>
          </a:xfrm>
          <a:prstGeom prst="roundRect">
            <a:avLst>
              <a:gd name="adj" fmla="val 5405"/>
            </a:avLst>
          </a:prstGeom>
          <a:solidFill>
            <a:srgbClr val="1C1C1C"/>
          </a:solidFill>
          <a:ln/>
          <a:effectLst>
            <a:outerShdw sx="100000" sy="100000" kx="0" ky="0" algn="bl" rotWithShape="0" blurRad="152400" dist="38100" dir="5400000">
              <a:srgbClr val="000000">
                <a:alpha val="4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163056" y="1307592"/>
            <a:ext cx="274320" cy="274320"/>
          </a:xfrm>
          <a:prstGeom prst="ellipse">
            <a:avLst/>
          </a:prstGeom>
          <a:solidFill>
            <a:srgbClr val="CE93D8"/>
          </a:solidFill>
          <a:ln/>
        </p:spPr>
      </p:sp>
      <p:sp>
        <p:nvSpPr>
          <p:cNvPr id="14" name="Text 12"/>
          <p:cNvSpPr/>
          <p:nvPr/>
        </p:nvSpPr>
        <p:spPr>
          <a:xfrm>
            <a:off x="6528816" y="1280160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Element-wise Fusion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163056" y="1709928"/>
            <a:ext cx="2423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E9E9E"/>
                </a:solidFill>
              </a:rPr>
              <a:t>Both branches compressed to [512×16×16], fused with ReLU activation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20040" y="3017520"/>
            <a:ext cx="2697480" cy="1691640"/>
          </a:xfrm>
          <a:prstGeom prst="roundRect">
            <a:avLst>
              <a:gd name="adj" fmla="val 5405"/>
            </a:avLst>
          </a:prstGeom>
          <a:solidFill>
            <a:srgbClr val="1C1C1C"/>
          </a:solidFill>
          <a:ln/>
          <a:effectLst>
            <a:outerShdw sx="100000" sy="100000" kx="0" ky="0" algn="bl" rotWithShape="0" blurRad="152400" dist="38100" dir="5400000">
              <a:srgbClr val="000000">
                <a:alpha val="4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3182112"/>
            <a:ext cx="274320" cy="274320"/>
          </a:xfrm>
          <a:prstGeom prst="ellipse">
            <a:avLst/>
          </a:prstGeom>
          <a:solidFill>
            <a:srgbClr val="81C784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3154680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Head A — Lesion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" y="3584448"/>
            <a:ext cx="2423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E9E9E"/>
                </a:solidFill>
              </a:rPr>
              <a:t>Multi-label BCE Loss for lesion estimation mask detection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172968" y="3017520"/>
            <a:ext cx="2697480" cy="1691640"/>
          </a:xfrm>
          <a:prstGeom prst="roundRect">
            <a:avLst>
              <a:gd name="adj" fmla="val 5405"/>
            </a:avLst>
          </a:prstGeom>
          <a:solidFill>
            <a:srgbClr val="1C1C1C"/>
          </a:solidFill>
          <a:ln/>
          <a:effectLst>
            <a:outerShdw sx="100000" sy="100000" kx="0" ky="0" algn="bl" rotWithShape="0" blurRad="152400" dist="38100" dir="5400000">
              <a:srgbClr val="000000">
                <a:alpha val="4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310128" y="3182112"/>
            <a:ext cx="274320" cy="274320"/>
          </a:xfrm>
          <a:prstGeom prst="ellipse">
            <a:avLst/>
          </a:prstGeom>
          <a:solidFill>
            <a:srgbClr val="F48FB1"/>
          </a:solidFill>
          <a:ln/>
        </p:spPr>
      </p:sp>
      <p:sp>
        <p:nvSpPr>
          <p:cNvPr id="22" name="Text 20"/>
          <p:cNvSpPr/>
          <p:nvPr/>
        </p:nvSpPr>
        <p:spPr>
          <a:xfrm>
            <a:off x="3675888" y="3154680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Head B — DR Grade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310128" y="3584448"/>
            <a:ext cx="2423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E9E9E"/>
                </a:solidFill>
              </a:rPr>
              <a:t>Class-Balanced Focal Loss for 5-class severity grading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025896" y="3017520"/>
            <a:ext cx="2697480" cy="1691640"/>
          </a:xfrm>
          <a:prstGeom prst="roundRect">
            <a:avLst>
              <a:gd name="adj" fmla="val 5405"/>
            </a:avLst>
          </a:prstGeom>
          <a:solidFill>
            <a:srgbClr val="1C1C1C"/>
          </a:solidFill>
          <a:ln/>
          <a:effectLst>
            <a:outerShdw sx="100000" sy="100000" kx="0" ky="0" algn="bl" rotWithShape="0" blurRad="152400" dist="38100" dir="5400000">
              <a:srgbClr val="000000">
                <a:alpha val="4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163056" y="3182112"/>
            <a:ext cx="274320" cy="274320"/>
          </a:xfrm>
          <a:prstGeom prst="ellipse">
            <a:avLst/>
          </a:prstGeom>
          <a:solidFill>
            <a:srgbClr val="80DEEA"/>
          </a:solidFill>
          <a:ln/>
        </p:spPr>
      </p:sp>
      <p:sp>
        <p:nvSpPr>
          <p:cNvPr id="26" name="Text 24"/>
          <p:cNvSpPr/>
          <p:nvPr/>
        </p:nvSpPr>
        <p:spPr>
          <a:xfrm>
            <a:off x="6528816" y="3154680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Eye Masking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163056" y="3584448"/>
            <a:ext cx="2423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E9E9E"/>
                </a:solidFill>
              </a:rPr>
              <a:t>Circular mask applied to exclude predictions outside retinal boundary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1C784"/>
                </a:solidFill>
              </a:rPr>
              <a:t>PREDICTION SAMPLES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Custom Architecture · Grade &amp; Lesion Predictions</a:t>
            </a:r>
            <a:endParaRPr lang="en-US" sz="2400" dirty="0"/>
          </a:p>
        </p:txBody>
      </p:sp>
      <p:pic>
        <p:nvPicPr>
          <p:cNvPr id="4" name="Image 0" descr="/home/claude/custom_resnet_architecture_visual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65760" y="1005840"/>
            <a:ext cx="8412480" cy="379476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FFB74D"/>
                </a:solidFill>
              </a:rPr>
              <a:t>EXPLAINABILITY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GradCAM Heatmaps — Model Attention Visualization</a:t>
            </a:r>
            <a:endParaRPr lang="en-US" sz="2400" dirty="0"/>
          </a:p>
        </p:txBody>
      </p:sp>
      <p:pic>
        <p:nvPicPr>
          <p:cNvPr id="4" name="Image 0" descr="/home/claude/custom_architecture_resnet_visuals_with_heatmap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054096" y="960120"/>
            <a:ext cx="3026664" cy="4114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274320" y="1051560"/>
            <a:ext cx="2468880" cy="804672"/>
          </a:xfrm>
          <a:prstGeom prst="roundRect">
            <a:avLst>
              <a:gd name="adj" fmla="val 7955"/>
            </a:avLst>
          </a:prstGeom>
          <a:solidFill>
            <a:srgbClr val="1C1C1C"/>
          </a:solidFill>
          <a:ln/>
        </p:spPr>
      </p:sp>
      <p:sp>
        <p:nvSpPr>
          <p:cNvPr id="6" name="Text 3"/>
          <p:cNvSpPr/>
          <p:nvPr/>
        </p:nvSpPr>
        <p:spPr>
          <a:xfrm>
            <a:off x="274320" y="1051560"/>
            <a:ext cx="2468880" cy="40233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True Grade 4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274320" y="1417320"/>
            <a:ext cx="24688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5252"/>
                </a:solidFill>
              </a:rPr>
              <a:t>Pred: 3 (misclassified)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274320" y="2039112"/>
            <a:ext cx="2468880" cy="804672"/>
          </a:xfrm>
          <a:prstGeom prst="roundRect">
            <a:avLst>
              <a:gd name="adj" fmla="val 7955"/>
            </a:avLst>
          </a:prstGeom>
          <a:solidFill>
            <a:srgbClr val="1C1C1C"/>
          </a:solidFill>
          <a:ln/>
        </p:spPr>
      </p:sp>
      <p:sp>
        <p:nvSpPr>
          <p:cNvPr id="9" name="Text 6"/>
          <p:cNvSpPr/>
          <p:nvPr/>
        </p:nvSpPr>
        <p:spPr>
          <a:xfrm>
            <a:off x="274320" y="2039112"/>
            <a:ext cx="2468880" cy="40233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True Grade 1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274320" y="2404872"/>
            <a:ext cx="24688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1C784"/>
                </a:solidFill>
              </a:rPr>
              <a:t>Pred: 1 ✓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274320" y="3026664"/>
            <a:ext cx="2468880" cy="804672"/>
          </a:xfrm>
          <a:prstGeom prst="roundRect">
            <a:avLst>
              <a:gd name="adj" fmla="val 7955"/>
            </a:avLst>
          </a:prstGeom>
          <a:solidFill>
            <a:srgbClr val="1C1C1C"/>
          </a:solidFill>
          <a:ln/>
        </p:spPr>
      </p:sp>
      <p:sp>
        <p:nvSpPr>
          <p:cNvPr id="12" name="Text 9"/>
          <p:cNvSpPr/>
          <p:nvPr/>
        </p:nvSpPr>
        <p:spPr>
          <a:xfrm>
            <a:off x="274320" y="3026664"/>
            <a:ext cx="2468880" cy="40233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True Grade 0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274320" y="3392424"/>
            <a:ext cx="24688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1C784"/>
                </a:solidFill>
              </a:rPr>
              <a:t>Pred: 0 ✓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274320" y="4014216"/>
            <a:ext cx="2468880" cy="804672"/>
          </a:xfrm>
          <a:prstGeom prst="roundRect">
            <a:avLst>
              <a:gd name="adj" fmla="val 7955"/>
            </a:avLst>
          </a:prstGeom>
          <a:solidFill>
            <a:srgbClr val="1C1C1C"/>
          </a:solidFill>
          <a:ln/>
        </p:spPr>
      </p:sp>
      <p:sp>
        <p:nvSpPr>
          <p:cNvPr id="15" name="Text 12"/>
          <p:cNvSpPr/>
          <p:nvPr/>
        </p:nvSpPr>
        <p:spPr>
          <a:xfrm>
            <a:off x="274320" y="4014216"/>
            <a:ext cx="2468880" cy="40233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True Grade 3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274320" y="4379976"/>
            <a:ext cx="24688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1C784"/>
                </a:solidFill>
              </a:rPr>
              <a:t>Pred: 3 ✓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6309360" y="2011680"/>
            <a:ext cx="25603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E9E9E"/>
                </a:solidFill>
              </a:rPr>
              <a:t>Left: Original  |  Center: Grade CAM  |  Right: Lesion CAM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6309360" y="384048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B74D"/>
                </a:solidFill>
              </a:rPr>
              <a:t>Red/yellow = high model attention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1C784"/>
                </a:solidFill>
              </a:rPr>
              <a:t>IMPROVED RESULTS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Custom Architecture — Final Metrics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1143000"/>
            <a:ext cx="3200400" cy="41148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114300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Metric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11880" y="1143000"/>
            <a:ext cx="2468880" cy="41148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7" name="Text 5"/>
          <p:cNvSpPr/>
          <p:nvPr/>
        </p:nvSpPr>
        <p:spPr>
          <a:xfrm>
            <a:off x="3611880" y="114300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FC3F7"/>
                </a:solidFill>
              </a:rPr>
              <a:t>Baseline ResNet-50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126480" y="1143000"/>
            <a:ext cx="2468880" cy="41148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9" name="Text 7"/>
          <p:cNvSpPr/>
          <p:nvPr/>
        </p:nvSpPr>
        <p:spPr>
          <a:xfrm>
            <a:off x="6126480" y="114300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1C784"/>
                </a:solidFill>
              </a:rPr>
              <a:t>Custom Architecture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1554480"/>
            <a:ext cx="3200400" cy="45720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11" name="Text 9"/>
          <p:cNvSpPr/>
          <p:nvPr/>
        </p:nvSpPr>
        <p:spPr>
          <a:xfrm>
            <a:off x="365760" y="155448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Grade Accuracy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11880" y="1554480"/>
            <a:ext cx="2468880" cy="45720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13" name="Text 11"/>
          <p:cNvSpPr/>
          <p:nvPr/>
        </p:nvSpPr>
        <p:spPr>
          <a:xfrm>
            <a:off x="3611880" y="155448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E9E9E"/>
                </a:solidFill>
              </a:rPr>
              <a:t>82.33%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126480" y="1554480"/>
            <a:ext cx="2468880" cy="45720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15" name="Text 13"/>
          <p:cNvSpPr/>
          <p:nvPr/>
        </p:nvSpPr>
        <p:spPr>
          <a:xfrm>
            <a:off x="6126480" y="155448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1C784"/>
                </a:solidFill>
              </a:rPr>
              <a:t>82.91% (early stop val)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2029968"/>
            <a:ext cx="3200400" cy="457200"/>
          </a:xfrm>
          <a:prstGeom prst="rect">
            <a:avLst/>
          </a:prstGeom>
          <a:solidFill>
            <a:srgbClr val="161616"/>
          </a:solidFill>
          <a:ln/>
        </p:spPr>
      </p:sp>
      <p:sp>
        <p:nvSpPr>
          <p:cNvPr id="17" name="Text 15"/>
          <p:cNvSpPr/>
          <p:nvPr/>
        </p:nvSpPr>
        <p:spPr>
          <a:xfrm>
            <a:off x="365760" y="2029968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Macro F1-Score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11880" y="2029968"/>
            <a:ext cx="2468880" cy="457200"/>
          </a:xfrm>
          <a:prstGeom prst="rect">
            <a:avLst/>
          </a:prstGeom>
          <a:solidFill>
            <a:srgbClr val="161616"/>
          </a:solidFill>
          <a:ln/>
        </p:spPr>
      </p:sp>
      <p:sp>
        <p:nvSpPr>
          <p:cNvPr id="19" name="Text 17"/>
          <p:cNvSpPr/>
          <p:nvPr/>
        </p:nvSpPr>
        <p:spPr>
          <a:xfrm>
            <a:off x="3611880" y="2029968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E9E9E"/>
                </a:solidFill>
              </a:rPr>
              <a:t>74.53%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126480" y="2029968"/>
            <a:ext cx="2468880" cy="457200"/>
          </a:xfrm>
          <a:prstGeom prst="rect">
            <a:avLst/>
          </a:prstGeom>
          <a:solidFill>
            <a:srgbClr val="161616"/>
          </a:solidFill>
          <a:ln/>
        </p:spPr>
      </p:sp>
      <p:sp>
        <p:nvSpPr>
          <p:cNvPr id="21" name="Text 19"/>
          <p:cNvSpPr/>
          <p:nvPr/>
        </p:nvSpPr>
        <p:spPr>
          <a:xfrm>
            <a:off x="6126480" y="2029968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1C784"/>
                </a:solidFill>
              </a:rPr>
              <a:t>—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2505456"/>
            <a:ext cx="3200400" cy="45720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23" name="Text 21"/>
          <p:cNvSpPr/>
          <p:nvPr/>
        </p:nvSpPr>
        <p:spPr>
          <a:xfrm>
            <a:off x="365760" y="2505456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Lesion AUC-ROC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611880" y="2505456"/>
            <a:ext cx="2468880" cy="45720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25" name="Text 23"/>
          <p:cNvSpPr/>
          <p:nvPr/>
        </p:nvSpPr>
        <p:spPr>
          <a:xfrm>
            <a:off x="3611880" y="2505456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E9E9E"/>
                </a:solidFill>
              </a:rPr>
              <a:t>96.49%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126480" y="2505456"/>
            <a:ext cx="2468880" cy="45720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27" name="Text 25"/>
          <p:cNvSpPr/>
          <p:nvPr/>
        </p:nvSpPr>
        <p:spPr>
          <a:xfrm>
            <a:off x="6126480" y="2505456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1C784"/>
                </a:solidFill>
              </a:rPr>
              <a:t>94.71% (val)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65760" y="2980944"/>
            <a:ext cx="3200400" cy="457200"/>
          </a:xfrm>
          <a:prstGeom prst="rect">
            <a:avLst/>
          </a:prstGeom>
          <a:solidFill>
            <a:srgbClr val="161616"/>
          </a:solidFill>
          <a:ln/>
        </p:spPr>
      </p:sp>
      <p:sp>
        <p:nvSpPr>
          <p:cNvPr id="29" name="Text 27"/>
          <p:cNvSpPr/>
          <p:nvPr/>
        </p:nvSpPr>
        <p:spPr>
          <a:xfrm>
            <a:off x="365760" y="2980944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Lesion Accuracy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611880" y="2980944"/>
            <a:ext cx="2468880" cy="457200"/>
          </a:xfrm>
          <a:prstGeom prst="rect">
            <a:avLst/>
          </a:prstGeom>
          <a:solidFill>
            <a:srgbClr val="161616"/>
          </a:solidFill>
          <a:ln/>
        </p:spPr>
      </p:sp>
      <p:sp>
        <p:nvSpPr>
          <p:cNvPr id="31" name="Text 29"/>
          <p:cNvSpPr/>
          <p:nvPr/>
        </p:nvSpPr>
        <p:spPr>
          <a:xfrm>
            <a:off x="3611880" y="2980944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E9E9E"/>
                </a:solidFill>
              </a:rPr>
              <a:t>—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126480" y="2980944"/>
            <a:ext cx="2468880" cy="457200"/>
          </a:xfrm>
          <a:prstGeom prst="rect">
            <a:avLst/>
          </a:prstGeom>
          <a:solidFill>
            <a:srgbClr val="161616"/>
          </a:solidFill>
          <a:ln/>
        </p:spPr>
      </p:sp>
      <p:sp>
        <p:nvSpPr>
          <p:cNvPr id="33" name="Text 31"/>
          <p:cNvSpPr/>
          <p:nvPr/>
        </p:nvSpPr>
        <p:spPr>
          <a:xfrm>
            <a:off x="6126480" y="2980944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1C784"/>
                </a:solidFill>
              </a:rPr>
              <a:t>94.62% (val)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365760" y="3456432"/>
            <a:ext cx="3200400" cy="45720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35" name="Text 33"/>
          <p:cNvSpPr/>
          <p:nvPr/>
        </p:nvSpPr>
        <p:spPr>
          <a:xfrm>
            <a:off x="365760" y="3456432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Eye Masking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3611880" y="3456432"/>
            <a:ext cx="2468880" cy="45720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37" name="Text 35"/>
          <p:cNvSpPr/>
          <p:nvPr/>
        </p:nvSpPr>
        <p:spPr>
          <a:xfrm>
            <a:off x="3611880" y="3456432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E9E9E"/>
                </a:solidFill>
              </a:rPr>
              <a:t>✗ No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6126480" y="3456432"/>
            <a:ext cx="2468880" cy="45720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39" name="Text 37"/>
          <p:cNvSpPr/>
          <p:nvPr/>
        </p:nvSpPr>
        <p:spPr>
          <a:xfrm>
            <a:off x="6126480" y="3456432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1C784"/>
                </a:solidFill>
              </a:rPr>
              <a:t>✓ Yes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365760" y="3931920"/>
            <a:ext cx="3200400" cy="457200"/>
          </a:xfrm>
          <a:prstGeom prst="rect">
            <a:avLst/>
          </a:prstGeom>
          <a:solidFill>
            <a:srgbClr val="161616"/>
          </a:solidFill>
          <a:ln/>
        </p:spPr>
      </p:sp>
      <p:sp>
        <p:nvSpPr>
          <p:cNvPr id="41" name="Text 39"/>
          <p:cNvSpPr/>
          <p:nvPr/>
        </p:nvSpPr>
        <p:spPr>
          <a:xfrm>
            <a:off x="365760" y="393192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Dual-Head Output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3611880" y="3931920"/>
            <a:ext cx="2468880" cy="457200"/>
          </a:xfrm>
          <a:prstGeom prst="rect">
            <a:avLst/>
          </a:prstGeom>
          <a:solidFill>
            <a:srgbClr val="161616"/>
          </a:solidFill>
          <a:ln/>
        </p:spPr>
      </p:sp>
      <p:sp>
        <p:nvSpPr>
          <p:cNvPr id="43" name="Text 41"/>
          <p:cNvSpPr/>
          <p:nvPr/>
        </p:nvSpPr>
        <p:spPr>
          <a:xfrm>
            <a:off x="3611880" y="393192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E9E9E"/>
                </a:solidFill>
              </a:rPr>
              <a:t>✗ No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6126480" y="3931920"/>
            <a:ext cx="2468880" cy="457200"/>
          </a:xfrm>
          <a:prstGeom prst="rect">
            <a:avLst/>
          </a:prstGeom>
          <a:solidFill>
            <a:srgbClr val="161616"/>
          </a:solidFill>
          <a:ln/>
        </p:spPr>
      </p:sp>
      <p:sp>
        <p:nvSpPr>
          <p:cNvPr id="45" name="Text 43"/>
          <p:cNvSpPr/>
          <p:nvPr/>
        </p:nvSpPr>
        <p:spPr>
          <a:xfrm>
            <a:off x="6126480" y="393192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1C784"/>
                </a:solidFill>
              </a:rPr>
              <a:t>✓ Grade + Lesion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1005840" y="4343400"/>
            <a:ext cx="7132320" cy="621792"/>
          </a:xfrm>
          <a:prstGeom prst="roundRect">
            <a:avLst>
              <a:gd name="adj" fmla="val 8824"/>
            </a:avLst>
          </a:prstGeom>
          <a:solidFill>
            <a:srgbClr val="050505"/>
          </a:solidFill>
          <a:ln w="12700">
            <a:solidFill>
              <a:srgbClr val="2A2A2A"/>
            </a:solidFill>
            <a:prstDash val="solid"/>
          </a:ln>
        </p:spPr>
      </p:sp>
      <p:pic>
        <p:nvPicPr>
          <p:cNvPr id="47" name="Image 0" descr="/home/claude/resnet_custom_architecture_result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97280" y="4361688"/>
            <a:ext cx="6949440" cy="56692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F48FB1"/>
                </a:solidFill>
              </a:rPr>
              <a:t>CURRENT STATUS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Challenges &amp; Planned Next Steps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109728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48FB1"/>
                </a:solidFill>
              </a:rPr>
              <a:t>CHALLENGES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65760" y="1508760"/>
            <a:ext cx="3931920" cy="685800"/>
          </a:xfrm>
          <a:prstGeom prst="roundRect">
            <a:avLst>
              <a:gd name="adj" fmla="val 10667"/>
            </a:avLst>
          </a:prstGeom>
          <a:solidFill>
            <a:srgbClr val="1A0D0D"/>
          </a:solidFill>
          <a:ln w="12700">
            <a:solidFill>
              <a:srgbClr val="4A151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554480"/>
            <a:ext cx="3566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F9A9A"/>
                </a:solidFill>
              </a:rPr>
              <a:t>Overfitting despite L2 regularization — further hyperparameter tuning required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65760" y="2313432"/>
            <a:ext cx="3931920" cy="685800"/>
          </a:xfrm>
          <a:prstGeom prst="roundRect">
            <a:avLst>
              <a:gd name="adj" fmla="val 10667"/>
            </a:avLst>
          </a:prstGeom>
          <a:solidFill>
            <a:srgbClr val="1A0D0D"/>
          </a:solidFill>
          <a:ln w="12700">
            <a:solidFill>
              <a:srgbClr val="4A151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2359152"/>
            <a:ext cx="3566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F9A9A"/>
                </a:solidFill>
              </a:rPr>
              <a:t>Class imbalance across 0–4 DR grades affects sensitivity of higher grades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65760" y="3118104"/>
            <a:ext cx="3931920" cy="685800"/>
          </a:xfrm>
          <a:prstGeom prst="roundRect">
            <a:avLst>
              <a:gd name="adj" fmla="val 10667"/>
            </a:avLst>
          </a:prstGeom>
          <a:solidFill>
            <a:srgbClr val="1A0D0D"/>
          </a:solidFill>
          <a:ln w="12700">
            <a:solidFill>
              <a:srgbClr val="4A151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3163824"/>
            <a:ext cx="3566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F9A9A"/>
                </a:solidFill>
              </a:rPr>
              <a:t>Bounding box predictions outside retinal boundary in baseline model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663440" y="109728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81C784"/>
                </a:solidFill>
              </a:rPr>
              <a:t>NEXT STEPS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663440" y="1508760"/>
            <a:ext cx="4114800" cy="685800"/>
          </a:xfrm>
          <a:prstGeom prst="roundRect">
            <a:avLst>
              <a:gd name="adj" fmla="val 10667"/>
            </a:avLst>
          </a:prstGeom>
          <a:solidFill>
            <a:srgbClr val="0A1A0D"/>
          </a:solidFill>
          <a:ln w="12700">
            <a:solidFill>
              <a:srgbClr val="1A4A1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46320" y="1554480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1C784"/>
                </a:solidFill>
              </a:rPr>
              <a:t>Evaluate on UWF &amp; OCT modalities with fine-tuned models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663440" y="2313432"/>
            <a:ext cx="4114800" cy="685800"/>
          </a:xfrm>
          <a:prstGeom prst="roundRect">
            <a:avLst>
              <a:gd name="adj" fmla="val 10667"/>
            </a:avLst>
          </a:prstGeom>
          <a:solidFill>
            <a:srgbClr val="0A1A0D"/>
          </a:solidFill>
          <a:ln w="12700">
            <a:solidFill>
              <a:srgbClr val="1A4A1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46320" y="2359152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1C784"/>
                </a:solidFill>
              </a:rPr>
              <a:t>Integrate class-balanced sampling for minority DR grades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663440" y="3118104"/>
            <a:ext cx="4114800" cy="685800"/>
          </a:xfrm>
          <a:prstGeom prst="roundRect">
            <a:avLst>
              <a:gd name="adj" fmla="val 10667"/>
            </a:avLst>
          </a:prstGeom>
          <a:solidFill>
            <a:srgbClr val="0A1A0D"/>
          </a:solidFill>
          <a:ln w="12700">
            <a:solidFill>
              <a:srgbClr val="1A4A1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46320" y="3163824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1C784"/>
                </a:solidFill>
              </a:rPr>
              <a:t>Explore RETFound &amp; FLAIR foundation model fine-tuning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65760" y="4206240"/>
            <a:ext cx="8412480" cy="777240"/>
          </a:xfrm>
          <a:prstGeom prst="roundRect">
            <a:avLst>
              <a:gd name="adj" fmla="val 9412"/>
            </a:avLst>
          </a:prstGeom>
          <a:solidFill>
            <a:srgbClr val="1C1C1C"/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" y="42519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FC3F7"/>
                </a:solidFill>
              </a:rPr>
              <a:t>Key Skills Applied: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48640" y="4553712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E9E9E"/>
                </a:solidFill>
              </a:rPr>
              <a:t>PyTorch · ResNet-50 · Multi-task Learning · GradCAM · Adam + CosineAnnealingLR · Mixed Precision · Focal Loss · Custom DataLoaders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0"/>
            <a:ext cx="0" cy="5143500"/>
          </a:xfrm>
          <a:prstGeom prst="line">
            <a:avLst/>
          </a:prstGeom>
          <a:noFill/>
          <a:ln w="6350">
            <a:solidFill>
              <a:srgbClr val="1A1A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011680" y="0"/>
            <a:ext cx="0" cy="5143500"/>
          </a:xfrm>
          <a:prstGeom prst="line">
            <a:avLst/>
          </a:prstGeom>
          <a:noFill/>
          <a:ln w="635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017520" y="0"/>
            <a:ext cx="0" cy="5143500"/>
          </a:xfrm>
          <a:prstGeom prst="line">
            <a:avLst/>
          </a:prstGeom>
          <a:noFill/>
          <a:ln w="6350">
            <a:solidFill>
              <a:srgbClr val="1A1A1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023360" y="0"/>
            <a:ext cx="0" cy="5143500"/>
          </a:xfrm>
          <a:prstGeom prst="line">
            <a:avLst/>
          </a:prstGeom>
          <a:noFill/>
          <a:ln w="6350">
            <a:solidFill>
              <a:srgbClr val="1A1A1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0" y="0"/>
            <a:ext cx="0" cy="5143500"/>
          </a:xfrm>
          <a:prstGeom prst="line">
            <a:avLst/>
          </a:prstGeom>
          <a:noFill/>
          <a:ln w="6350">
            <a:solidFill>
              <a:srgbClr val="1A1A1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035040" y="0"/>
            <a:ext cx="0" cy="5143500"/>
          </a:xfrm>
          <a:prstGeom prst="line">
            <a:avLst/>
          </a:prstGeom>
          <a:noFill/>
          <a:ln w="6350">
            <a:solidFill>
              <a:srgbClr val="1A1A1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040880" y="0"/>
            <a:ext cx="0" cy="5143500"/>
          </a:xfrm>
          <a:prstGeom prst="line">
            <a:avLst/>
          </a:prstGeom>
          <a:noFill/>
          <a:ln w="6350">
            <a:solidFill>
              <a:srgbClr val="1A1A1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046720" y="0"/>
            <a:ext cx="0" cy="5143500"/>
          </a:xfrm>
          <a:prstGeom prst="line">
            <a:avLst/>
          </a:prstGeom>
          <a:noFill/>
          <a:ln w="6350">
            <a:solidFill>
              <a:srgbClr val="1A1A1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052560" y="0"/>
            <a:ext cx="0" cy="5143500"/>
          </a:xfrm>
          <a:prstGeom prst="line">
            <a:avLst/>
          </a:prstGeom>
          <a:noFill/>
          <a:ln w="6350">
            <a:solidFill>
              <a:srgbClr val="1A1A1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3716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400" b="1" spc="1000" kern="0" dirty="0">
                <a:solidFill>
                  <a:srgbClr val="FFFFFF"/>
                </a:solidFill>
              </a:rPr>
              <a:t>THANK YOU</a:t>
            </a:r>
            <a:endParaRPr lang="en-US" sz="6400" dirty="0"/>
          </a:p>
        </p:txBody>
      </p:sp>
      <p:sp>
        <p:nvSpPr>
          <p:cNvPr id="12" name="Shape 10"/>
          <p:cNvSpPr/>
          <p:nvPr/>
        </p:nvSpPr>
        <p:spPr>
          <a:xfrm>
            <a:off x="2743200" y="2651760"/>
            <a:ext cx="3657600" cy="0"/>
          </a:xfrm>
          <a:prstGeom prst="line">
            <a:avLst/>
          </a:prstGeom>
          <a:noFill/>
          <a:ln w="19050">
            <a:solidFill>
              <a:srgbClr val="4FC3F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8346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4FC3F7"/>
                </a:solidFill>
              </a:rPr>
              <a:t>Questions &amp; Discussion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57200" y="4297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44444"/>
                </a:solidFill>
              </a:rPr>
              <a:t>Krrish Baghla  ·  Research Intern, IIT BHU  ·  krrishb.mc.24@nitj.ac.in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1F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73152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RETFound — Foundation Model for Retinal Images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Pre-trained ophthalmic foundation model by Zhou et al., Nature 2023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143000"/>
            <a:ext cx="384048" cy="384048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11430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77240" y="1115568"/>
            <a:ext cx="539496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12700" dir="270000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914400" y="1143000"/>
            <a:ext cx="5120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RETFound is a large-scale vision foundation model pre-trained via Masked Image Modeling (MAE) on 1.6M unlabeled retinal images.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74320" y="2167128"/>
            <a:ext cx="384048" cy="384048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10" name="Text 8"/>
          <p:cNvSpPr/>
          <p:nvPr/>
        </p:nvSpPr>
        <p:spPr>
          <a:xfrm>
            <a:off x="274320" y="21671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77240" y="2139696"/>
            <a:ext cx="539496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12700" dir="270000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914400" y="2167128"/>
            <a:ext cx="5120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multiple retinal imaging modalities including CFP and OCT, achieving strong generalizability with minimal fine-tuning.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74320" y="3191256"/>
            <a:ext cx="384048" cy="384048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14" name="Text 12"/>
          <p:cNvSpPr/>
          <p:nvPr/>
        </p:nvSpPr>
        <p:spPr>
          <a:xfrm>
            <a:off x="274320" y="31912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777240" y="3163824"/>
            <a:ext cx="539496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12700" dir="2700000">
              <a:srgbClr val="000000">
                <a:alpha val="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914400" y="3191256"/>
            <a:ext cx="5120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fine-tuned RETFound on MMRDR-CFP &amp; MMRDR-UWF for 5-class DR grading and 7-label lesion detection tasks.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0" y="1115568"/>
            <a:ext cx="2468880" cy="3200400"/>
          </a:xfrm>
          <a:prstGeom prst="roundRect">
            <a:avLst>
              <a:gd name="adj" fmla="val 3704"/>
            </a:avLst>
          </a:prstGeom>
          <a:solidFill>
            <a:srgbClr val="0F1F3D"/>
          </a:solidFill>
          <a:ln/>
        </p:spPr>
      </p:sp>
      <p:sp>
        <p:nvSpPr>
          <p:cNvPr id="18" name="Text 16"/>
          <p:cNvSpPr/>
          <p:nvPr/>
        </p:nvSpPr>
        <p:spPr>
          <a:xfrm>
            <a:off x="6446520" y="12070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537960" y="1600200"/>
            <a:ext cx="2194560" cy="347472"/>
          </a:xfrm>
          <a:prstGeom prst="roundRect">
            <a:avLst>
              <a:gd name="adj" fmla="val 13158"/>
            </a:avLst>
          </a:prstGeom>
          <a:solidFill>
            <a:srgbClr val="1A3A5C"/>
          </a:solidFill>
          <a:ln/>
        </p:spPr>
      </p:sp>
      <p:sp>
        <p:nvSpPr>
          <p:cNvPr id="20" name="Text 18"/>
          <p:cNvSpPr/>
          <p:nvPr/>
        </p:nvSpPr>
        <p:spPr>
          <a:xfrm>
            <a:off x="6537960" y="160020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Retinal Image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635240" y="1947672"/>
            <a:ext cx="0" cy="109728"/>
          </a:xfrm>
          <a:prstGeom prst="line">
            <a:avLst/>
          </a:prstGeom>
          <a:noFill/>
          <a:ln w="19050">
            <a:solidFill>
              <a:srgbClr val="00B4D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537960" y="2057400"/>
            <a:ext cx="2194560" cy="347472"/>
          </a:xfrm>
          <a:prstGeom prst="roundRect">
            <a:avLst>
              <a:gd name="adj" fmla="val 13158"/>
            </a:avLst>
          </a:prstGeom>
          <a:solidFill>
            <a:srgbClr val="162D5A"/>
          </a:solidFill>
          <a:ln/>
        </p:spPr>
      </p:sp>
      <p:sp>
        <p:nvSpPr>
          <p:cNvPr id="23" name="Text 21"/>
          <p:cNvSpPr/>
          <p:nvPr/>
        </p:nvSpPr>
        <p:spPr>
          <a:xfrm>
            <a:off x="6537960" y="205740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ViT-Large Encoder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635240" y="2404872"/>
            <a:ext cx="0" cy="109728"/>
          </a:xfrm>
          <a:prstGeom prst="line">
            <a:avLst/>
          </a:prstGeom>
          <a:noFill/>
          <a:ln w="19050">
            <a:solidFill>
              <a:srgbClr val="00B4D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537960" y="2514600"/>
            <a:ext cx="2194560" cy="347472"/>
          </a:xfrm>
          <a:prstGeom prst="roundRect">
            <a:avLst>
              <a:gd name="adj" fmla="val 13158"/>
            </a:avLst>
          </a:prstGeom>
          <a:solidFill>
            <a:srgbClr val="162D5A"/>
          </a:solidFill>
          <a:ln/>
        </p:spPr>
      </p:sp>
      <p:sp>
        <p:nvSpPr>
          <p:cNvPr id="26" name="Text 24"/>
          <p:cNvSpPr/>
          <p:nvPr/>
        </p:nvSpPr>
        <p:spPr>
          <a:xfrm>
            <a:off x="6537960" y="251460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Masked Autoencoder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7635240" y="2862072"/>
            <a:ext cx="0" cy="109728"/>
          </a:xfrm>
          <a:prstGeom prst="line">
            <a:avLst/>
          </a:prstGeom>
          <a:noFill/>
          <a:ln w="19050">
            <a:solidFill>
              <a:srgbClr val="00B4D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537960" y="2971800"/>
            <a:ext cx="2194560" cy="347472"/>
          </a:xfrm>
          <a:prstGeom prst="roundRect">
            <a:avLst>
              <a:gd name="adj" fmla="val 13158"/>
            </a:avLst>
          </a:prstGeom>
          <a:solidFill>
            <a:srgbClr val="162D5A"/>
          </a:solidFill>
          <a:ln/>
        </p:spPr>
      </p:sp>
      <p:sp>
        <p:nvSpPr>
          <p:cNvPr id="29" name="Text 27"/>
          <p:cNvSpPr/>
          <p:nvPr/>
        </p:nvSpPr>
        <p:spPr>
          <a:xfrm>
            <a:off x="6537960" y="297180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Task-specific Head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7635240" y="3319272"/>
            <a:ext cx="0" cy="109728"/>
          </a:xfrm>
          <a:prstGeom prst="line">
            <a:avLst/>
          </a:prstGeom>
          <a:noFill/>
          <a:ln w="19050">
            <a:solidFill>
              <a:srgbClr val="00B4D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537960" y="3429000"/>
            <a:ext cx="2194560" cy="347472"/>
          </a:xfrm>
          <a:prstGeom prst="roundRect">
            <a:avLst>
              <a:gd name="adj" fmla="val 13158"/>
            </a:avLst>
          </a:prstGeom>
          <a:solidFill>
            <a:srgbClr val="0D5C4D"/>
          </a:solidFill>
          <a:ln/>
        </p:spPr>
      </p:sp>
      <p:sp>
        <p:nvSpPr>
          <p:cNvPr id="32" name="Text 30"/>
          <p:cNvSpPr/>
          <p:nvPr/>
        </p:nvSpPr>
        <p:spPr>
          <a:xfrm>
            <a:off x="6537960" y="342900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 Grade / Lesions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1F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73152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RETFound — Training Results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Fine-tuned on MMRDR-UWF with early stopping at epoch 28</a:t>
            </a:r>
            <a:endParaRPr lang="en-US" sz="1300" dirty="0"/>
          </a:p>
        </p:txBody>
      </p:sp>
      <p:pic>
        <p:nvPicPr>
          <p:cNvPr id="5" name="Image 0" descr="/mnt/user-data/uploads/retfound_result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4320" y="1051560"/>
            <a:ext cx="8595360" cy="340156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365760" y="4572000"/>
            <a:ext cx="2560320" cy="475488"/>
          </a:xfrm>
          <a:prstGeom prst="roundRect">
            <a:avLst>
              <a:gd name="adj" fmla="val 11538"/>
            </a:avLst>
          </a:prstGeom>
          <a:solidFill>
            <a:srgbClr val="0F1F3D"/>
          </a:solidFill>
          <a:ln/>
        </p:spPr>
      </p:sp>
      <p:sp>
        <p:nvSpPr>
          <p:cNvPr id="7" name="Text 4"/>
          <p:cNvSpPr/>
          <p:nvPr/>
        </p:nvSpPr>
        <p:spPr>
          <a:xfrm>
            <a:off x="457200" y="4572000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74.5%  Best Val Grade Acc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3200400" y="4572000"/>
            <a:ext cx="2560320" cy="475488"/>
          </a:xfrm>
          <a:prstGeom prst="roundRect">
            <a:avLst>
              <a:gd name="adj" fmla="val 11538"/>
            </a:avLst>
          </a:prstGeom>
          <a:solidFill>
            <a:srgbClr val="0F1F3D"/>
          </a:solidFill>
          <a:ln/>
        </p:spPr>
      </p:sp>
      <p:sp>
        <p:nvSpPr>
          <p:cNvPr id="9" name="Text 6"/>
          <p:cNvSpPr/>
          <p:nvPr/>
        </p:nvSpPr>
        <p:spPr>
          <a:xfrm>
            <a:off x="3291840" y="4572000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90.7%  Best Lesion Acc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035040" y="4572000"/>
            <a:ext cx="2560320" cy="475488"/>
          </a:xfrm>
          <a:prstGeom prst="roundRect">
            <a:avLst>
              <a:gd name="adj" fmla="val 11538"/>
            </a:avLst>
          </a:prstGeom>
          <a:solidFill>
            <a:srgbClr val="0F1F3D"/>
          </a:solidFill>
          <a:ln/>
        </p:spPr>
      </p:sp>
      <p:sp>
        <p:nvSpPr>
          <p:cNvPr id="11" name="Text 8"/>
          <p:cNvSpPr/>
          <p:nvPr/>
        </p:nvSpPr>
        <p:spPr>
          <a:xfrm>
            <a:off x="6126480" y="4572000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Epoch 28  Early Stopping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1F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73152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UWF_MultiScaleDRNet — Custom Architecture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for UWF retinal image multi-task classification</a:t>
            </a:r>
            <a:endParaRPr lang="en-US" sz="1300" dirty="0"/>
          </a:p>
        </p:txBody>
      </p:sp>
      <p:pic>
        <p:nvPicPr>
          <p:cNvPr id="5" name="Image 0" descr="/mnt/user-data/uploads/UWF_architecture.png">    </p:cNvPr>
          <p:cNvPicPr>
            <a:picLocks noChangeAspect="1"/>
          </p:cNvPicPr>
          <p:nvPr/>
        </p:nvPicPr>
        <p:blipFill>
          <a:blip r:embed="rId1"/>
          <a:srcRect l="-11667" r="-11667" t="0" b="0"/>
          <a:stretch/>
        </p:blipFill>
        <p:spPr>
          <a:xfrm>
            <a:off x="228600" y="1024128"/>
            <a:ext cx="8686800" cy="3840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74320" y="4681728"/>
            <a:ext cx="8595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ResNet-50 encoder + Feature Pyramid Network + Spatial Attention + dual classification heads for simultaneous DR grading and lesion detection.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1F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73152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UWF Dataset — Sample Images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MMRDR-UWF: 10,404 images across 5 DR severity grades with 7 lesion labels</a:t>
            </a:r>
            <a:endParaRPr lang="en-US" sz="1300" dirty="0"/>
          </a:p>
        </p:txBody>
      </p:sp>
      <p:pic>
        <p:nvPicPr>
          <p:cNvPr id="5" name="Image 0" descr="/mnt/user-data/uploads/UWF_datase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4320" y="1024128"/>
            <a:ext cx="8595360" cy="24140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74320" y="3520440"/>
            <a:ext cx="8595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UWF images showing Grade 0 (No DR) and Grade 4 (PDR) with corresponding lesion binary label vectors for 7 lesion types.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274320" y="3977640"/>
            <a:ext cx="2011680" cy="594360"/>
          </a:xfrm>
          <a:prstGeom prst="roundRect">
            <a:avLst>
              <a:gd name="adj" fmla="val 10769"/>
            </a:avLst>
          </a:prstGeom>
          <a:solidFill>
            <a:srgbClr val="1E3A5F"/>
          </a:solidFill>
          <a:ln/>
        </p:spPr>
      </p:sp>
      <p:sp>
        <p:nvSpPr>
          <p:cNvPr id="8" name="Text 5"/>
          <p:cNvSpPr/>
          <p:nvPr/>
        </p:nvSpPr>
        <p:spPr>
          <a:xfrm>
            <a:off x="274320" y="397764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0 (No DR)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2423160" y="3977640"/>
            <a:ext cx="2011680" cy="594360"/>
          </a:xfrm>
          <a:prstGeom prst="roundRect">
            <a:avLst>
              <a:gd name="adj" fmla="val 10769"/>
            </a:avLst>
          </a:prstGeom>
          <a:solidFill>
            <a:srgbClr val="7F1D1D"/>
          </a:solidFill>
          <a:ln/>
        </p:spPr>
      </p:sp>
      <p:sp>
        <p:nvSpPr>
          <p:cNvPr id="10" name="Text 7"/>
          <p:cNvSpPr/>
          <p:nvPr/>
        </p:nvSpPr>
        <p:spPr>
          <a:xfrm>
            <a:off x="2423160" y="397764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4 (PDR)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572000" y="3977640"/>
            <a:ext cx="2011680" cy="594360"/>
          </a:xfrm>
          <a:prstGeom prst="roundRect">
            <a:avLst>
              <a:gd name="adj" fmla="val 10769"/>
            </a:avLst>
          </a:prstGeom>
          <a:solidFill>
            <a:srgbClr val="1E3A5F"/>
          </a:solidFill>
          <a:ln/>
        </p:spPr>
      </p:sp>
      <p:sp>
        <p:nvSpPr>
          <p:cNvPr id="12" name="Text 9"/>
          <p:cNvSpPr/>
          <p:nvPr/>
        </p:nvSpPr>
        <p:spPr>
          <a:xfrm>
            <a:off x="4572000" y="397764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0 (No DR)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6720840" y="3977640"/>
            <a:ext cx="2011680" cy="594360"/>
          </a:xfrm>
          <a:prstGeom prst="roundRect">
            <a:avLst>
              <a:gd name="adj" fmla="val 10769"/>
            </a:avLst>
          </a:prstGeom>
          <a:solidFill>
            <a:srgbClr val="1E3A5F"/>
          </a:solidFill>
          <a:ln/>
        </p:spPr>
      </p:sp>
      <p:sp>
        <p:nvSpPr>
          <p:cNvPr id="14" name="Text 11"/>
          <p:cNvSpPr/>
          <p:nvPr/>
        </p:nvSpPr>
        <p:spPr>
          <a:xfrm>
            <a:off x="6720840" y="397764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0 (No DR)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1F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73152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UWF Model — Training Results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UWF_MultiScaleDRNet trained for 40 epochs with multi-task loss</a:t>
            </a:r>
            <a:endParaRPr lang="en-US" sz="1300" dirty="0"/>
          </a:p>
        </p:txBody>
      </p:sp>
      <p:pic>
        <p:nvPicPr>
          <p:cNvPr id="5" name="Image 0" descr="/mnt/user-data/uploads/UWF_results.png">    </p:cNvPr>
          <p:cNvPicPr>
            <a:picLocks noChangeAspect="1"/>
          </p:cNvPicPr>
          <p:nvPr/>
        </p:nvPicPr>
        <p:blipFill>
          <a:blip r:embed="rId1"/>
          <a:srcRect l="-10263" r="-10263" t="0" b="0"/>
          <a:stretch/>
        </p:blipFill>
        <p:spPr>
          <a:xfrm>
            <a:off x="274320" y="1024128"/>
            <a:ext cx="8595360" cy="34747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365760" y="4572000"/>
            <a:ext cx="2560320" cy="475488"/>
          </a:xfrm>
          <a:prstGeom prst="roundRect">
            <a:avLst>
              <a:gd name="adj" fmla="val 11538"/>
            </a:avLst>
          </a:prstGeom>
          <a:solidFill>
            <a:srgbClr val="0F1F3D"/>
          </a:solidFill>
          <a:ln/>
        </p:spPr>
      </p:sp>
      <p:sp>
        <p:nvSpPr>
          <p:cNvPr id="7" name="Text 4"/>
          <p:cNvSpPr/>
          <p:nvPr/>
        </p:nvSpPr>
        <p:spPr>
          <a:xfrm>
            <a:off x="457200" y="4572000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66.5%  Best Val Grade Acc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3200400" y="4572000"/>
            <a:ext cx="2560320" cy="475488"/>
          </a:xfrm>
          <a:prstGeom prst="roundRect">
            <a:avLst>
              <a:gd name="adj" fmla="val 11538"/>
            </a:avLst>
          </a:prstGeom>
          <a:solidFill>
            <a:srgbClr val="0F1F3D"/>
          </a:solidFill>
          <a:ln/>
        </p:spPr>
      </p:sp>
      <p:sp>
        <p:nvSpPr>
          <p:cNvPr id="9" name="Text 6"/>
          <p:cNvSpPr/>
          <p:nvPr/>
        </p:nvSpPr>
        <p:spPr>
          <a:xfrm>
            <a:off x="3291840" y="4572000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89.6%  Best Lesion Acc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035040" y="4572000"/>
            <a:ext cx="2560320" cy="475488"/>
          </a:xfrm>
          <a:prstGeom prst="roundRect">
            <a:avLst>
              <a:gd name="adj" fmla="val 11538"/>
            </a:avLst>
          </a:prstGeom>
          <a:solidFill>
            <a:srgbClr val="0F1F3D"/>
          </a:solidFill>
          <a:ln/>
        </p:spPr>
      </p:sp>
      <p:sp>
        <p:nvSpPr>
          <p:cNvPr id="11" name="Text 8"/>
          <p:cNvSpPr/>
          <p:nvPr/>
        </p:nvSpPr>
        <p:spPr>
          <a:xfrm>
            <a:off x="6126480" y="4572000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Epochs  Training Duration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1F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73152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Grad-CAM Explainability — UWF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Visualizing model attention on retinal lesion regions (Grade 0 vs 2)</a:t>
            </a:r>
            <a:endParaRPr lang="en-US" sz="1300" dirty="0"/>
          </a:p>
        </p:txBody>
      </p:sp>
      <p:pic>
        <p:nvPicPr>
          <p:cNvPr id="5" name="Image 0" descr="/mnt/user-data/uploads/UWF_result_1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024128"/>
            <a:ext cx="8229600" cy="37490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74320" y="4828032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Grad-CAM maps highlight retinal vascular regions. Red/warm areas indicate highest model attention. Grade 1 misclassified as Grade 2 shows broader attention spread.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1F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73152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Grad-CAM Explainability — UWF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correctly identifies lesion clusters in Grade 3 (Severe NPDR) cases</a:t>
            </a:r>
            <a:endParaRPr lang="en-US" sz="1300" dirty="0"/>
          </a:p>
        </p:txBody>
      </p:sp>
      <p:pic>
        <p:nvPicPr>
          <p:cNvPr id="5" name="Image 0" descr="/mnt/user-data/uploads/UWF_result_2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024128"/>
            <a:ext cx="8229600" cy="37490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74320" y="4828032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correctly classifies both Grade 3 and Grade 1 UWF images. Attention concentrates near the optic disc and macula — clinically meaningful lesion regions.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1F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73152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Grad-CAM Explainability — UWF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 patterns for Grade 4 (PDR) and Grade 3 (Severe NPDR)</a:t>
            </a:r>
            <a:endParaRPr lang="en-US" sz="1300" dirty="0"/>
          </a:p>
        </p:txBody>
      </p:sp>
      <p:pic>
        <p:nvPicPr>
          <p:cNvPr id="5" name="Image 0" descr="/mnt/user-data/uploads/UWF_result_3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024128"/>
            <a:ext cx="8229600" cy="37490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74320" y="4828032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4 (PDR) shows scattered lesion attention; Grade 3 Grad-CAM localizes dense dot hemorrhage clusters — validating clinical lesion-grade correlation.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1F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73152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 — Planned Experiments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delayed due to IIT BHU network access issues; schedule adjusted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051560"/>
            <a:ext cx="8595360" cy="566928"/>
          </a:xfrm>
          <a:prstGeom prst="roundRect">
            <a:avLst>
              <a:gd name="adj" fmla="val 12903"/>
            </a:avLst>
          </a:prstGeom>
          <a:solidFill>
            <a:srgbClr val="7F1D1D"/>
          </a:solidFill>
          <a:ln/>
        </p:spPr>
      </p:sp>
      <p:sp>
        <p:nvSpPr>
          <p:cNvPr id="6" name="Text 4"/>
          <p:cNvSpPr/>
          <p:nvPr/>
        </p:nvSpPr>
        <p:spPr>
          <a:xfrm>
            <a:off x="411480" y="1078992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Network access to IIT BHU compute cluster has been intermittent — experiments delayed. Below is the revised 7-day execution plan.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28600" y="1755648"/>
            <a:ext cx="4114800" cy="713232"/>
          </a:xfrm>
          <a:prstGeom prst="roundRect">
            <a:avLst>
              <a:gd name="adj" fmla="val 8974"/>
            </a:avLst>
          </a:prstGeom>
          <a:solidFill>
            <a:srgbClr val="065A82"/>
          </a:solidFill>
          <a:ln/>
          <a:effectLst>
            <a:outerShdw sx="100000" sy="100000" kx="0" ky="0" algn="bl" rotWithShape="0" blurRad="50800" dist="12700" dir="2700000">
              <a:srgbClr val="000000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38328" y="1819656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051560" y="181051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 Training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338328" y="2103120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 model on MMRDR-OCT for DME classification (3-class)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28600" y="2560320"/>
            <a:ext cx="4114800" cy="713232"/>
          </a:xfrm>
          <a:prstGeom prst="roundRect">
            <a:avLst>
              <a:gd name="adj" fmla="val 8974"/>
            </a:avLst>
          </a:prstGeom>
          <a:solidFill>
            <a:srgbClr val="1B4332"/>
          </a:solidFill>
          <a:ln/>
          <a:effectLst>
            <a:outerShdw sx="100000" sy="100000" kx="0" ky="0" algn="bl" rotWithShape="0" blurRad="50800" dist="12700" dir="2700000">
              <a:srgbClr val="000000">
                <a:alpha val="1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38328" y="2624328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051560" y="261518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Zero-shot CFP (Set 1)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338328" y="2907792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RETFound zero-shot on new CFP data — first evaluation batch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28600" y="3364992"/>
            <a:ext cx="4114800" cy="713232"/>
          </a:xfrm>
          <a:prstGeom prst="roundRect">
            <a:avLst>
              <a:gd name="adj" fmla="val 8974"/>
            </a:avLst>
          </a:prstGeom>
          <a:solidFill>
            <a:srgbClr val="1B4332"/>
          </a:solidFill>
          <a:ln/>
          <a:effectLst>
            <a:outerShdw sx="100000" sy="100000" kx="0" ky="0" algn="bl" rotWithShape="0" blurRad="50800" dist="12700" dir="2700000">
              <a:srgbClr val="000000">
                <a:alpha val="1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38328" y="3429000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051560" y="341985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Zero-shot CFP (Set 2)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338328" y="3712464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RETFound zero-shot on second CFP batch — cross-validate results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28600" y="4169664"/>
            <a:ext cx="4114800" cy="713232"/>
          </a:xfrm>
          <a:prstGeom prst="roundRect">
            <a:avLst>
              <a:gd name="adj" fmla="val 8974"/>
            </a:avLst>
          </a:prstGeom>
          <a:solidFill>
            <a:srgbClr val="4C1D95"/>
          </a:solidFill>
          <a:ln/>
          <a:effectLst>
            <a:outerShdw sx="100000" sy="100000" kx="0" ky="0" algn="bl" rotWithShape="0" blurRad="50800" dist="12700" dir="2700000">
              <a:srgbClr val="000000">
                <a:alpha val="1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38328" y="4233672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051560" y="422452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Zero-shot UWF (Set 1)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338328" y="4517136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zero-shot generalization on new UWF distribution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572000" y="1755648"/>
            <a:ext cx="4114800" cy="713232"/>
          </a:xfrm>
          <a:prstGeom prst="roundRect">
            <a:avLst>
              <a:gd name="adj" fmla="val 8974"/>
            </a:avLst>
          </a:prstGeom>
          <a:solidFill>
            <a:srgbClr val="4C1D95"/>
          </a:solidFill>
          <a:ln/>
          <a:effectLst>
            <a:outerShdw sx="100000" sy="100000" kx="0" ky="0" algn="bl" rotWithShape="0" blurRad="50800" dist="12700" dir="2700000">
              <a:srgbClr val="000000">
                <a:alpha val="1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681728" y="1819656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5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394960" y="181051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Zero-shot UWF (Set 2)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4681728" y="2103120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 UWF batch — assess peripheral lesion detection robustness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572000" y="2560320"/>
            <a:ext cx="4114800" cy="713232"/>
          </a:xfrm>
          <a:prstGeom prst="roundRect">
            <a:avLst>
              <a:gd name="adj" fmla="val 8974"/>
            </a:avLst>
          </a:prstGeom>
          <a:solidFill>
            <a:srgbClr val="7C2D12"/>
          </a:solidFill>
          <a:ln/>
          <a:effectLst>
            <a:outerShdw sx="100000" sy="100000" kx="0" ky="0" algn="bl" rotWithShape="0" blurRad="50800" dist="12700" dir="2700000">
              <a:srgbClr val="000000">
                <a:alpha val="15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4681728" y="2624328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6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394960" y="261518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Zero-shot OCT (Set 1)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4681728" y="2907792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Zero-shot DME classification on new OCT cohort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572000" y="3364992"/>
            <a:ext cx="4114800" cy="713232"/>
          </a:xfrm>
          <a:prstGeom prst="roundRect">
            <a:avLst>
              <a:gd name="adj" fmla="val 8974"/>
            </a:avLst>
          </a:prstGeom>
          <a:solidFill>
            <a:srgbClr val="7C2D12"/>
          </a:solidFill>
          <a:ln/>
          <a:effectLst>
            <a:outerShdw sx="100000" sy="100000" kx="0" ky="0" algn="bl" rotWithShape="0" blurRad="50800" dist="12700" dir="2700000">
              <a:srgbClr val="000000">
                <a:alpha val="15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4681728" y="3429000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7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394960" y="341985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Zero-shot OCT (Set 2)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4681728" y="3712464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OCT batch — complete cross-modal zero-shot benchmark</a:t>
            </a:r>
            <a:endParaRPr lang="en-US" sz="9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914400"/>
            <a:ext cx="4572000" cy="4572000"/>
          </a:xfrm>
          <a:prstGeom prst="ellipse">
            <a:avLst/>
          </a:prstGeom>
          <a:solidFill>
            <a:srgbClr val="0A2040">
              <a:alpha val="70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7315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Achievements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2743200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508760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Implemented and fine-tuned RETFound on MMRDR-UWF → 74.5% Grade Acc, 90.7% Lesion Acc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2130552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Built custom UWF_MultiScaleDRNet (ResNet-50 + FPN + Attention) for multi-task DR analysis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2752344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Generated Grad-CAM explainability maps validating clinical lesion localization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3374136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Achieved 66.5% Grade Accuracy and 89.6% Lesion Accuracy on custom UWF model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3995928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Upcoming: OCT training + zero-shot cross-modal evaluation across all 3 modalities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MMRDR Internship Progress</dc:title>
  <dc:subject>PptxGenJS Presentation</dc:subject>
  <dc:creator>PptxGenJS</dc:creator>
  <cp:lastModifiedBy>PptxGenJS</cp:lastModifiedBy>
  <cp:revision>1</cp:revision>
  <dcterms:created xsi:type="dcterms:W3CDTF">2026-06-27T17:22:55Z</dcterms:created>
  <dcterms:modified xsi:type="dcterms:W3CDTF">2026-06-27T17:22:55Z</dcterms:modified>
</cp:coreProperties>
</file>