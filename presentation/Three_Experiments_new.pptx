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Open by introducing yourself and the project in one line: this is Paper 2 of the internship, on the MMRDR multimodal retinal dataset for diabetic retinopathy.</a:t>
            </a:r>
          </a:p>
          <a:p>
            <a:r>
              <a:t>• Say you'll walk through three representative experiments out of eleven — chosen because each makes a different point: reproducing a strong baseline, testing synthetic data, and testing generalization.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Set the stage: every image has a DR severity grade from 0 (no DR) to 4 (proliferative), plus which of 7 lesion types are present.</a:t>
            </a:r>
          </a:p>
          <a:p>
            <a:r>
              <a:t>• Give the audience the map: II is about a foundation model, X is about generating data, XI is about whether our models transfer to new datasets.</a:t>
            </a:r>
          </a:p>
          <a:p>
            <a:r>
              <a:t>• Flag the honesty theme early so the negative result in Exp X lands as a strength, not a failure.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Explain RETFound plainly: it's a model pre-trained on huge numbers of retinal images, so it already 'knows' what retinas look like before we fine-tune it on our task.</a:t>
            </a:r>
          </a:p>
          <a:p>
            <a:r>
              <a:t>• Tell the story of the bug honestly — this is the memorable part. The professor's question 'how do you KNOW you froze the layers?' is what exposed it.</a:t>
            </a:r>
          </a:p>
          <a:p>
            <a:r>
              <a:t>• Land the two bugs: (1) the pretrained weights silently didn't load — only 4 of 294 tensors — so we were training a random model; (2) the freeze code did nothing. So the old 66.5% was meaningless.</a:t>
            </a:r>
          </a:p>
          <a:p>
            <a:r>
              <a:t>• Reassure: we didn't hide this — we diagnosed it and rebuilt from scratch.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Key point: we switched to a model definition where RETFound's weights match natively, so there's no fragile hand-remapping to go wrong.</a:t>
            </a:r>
          </a:p>
          <a:p>
            <a:r>
              <a:t>• Emphasise verification: the code now HARD-FAILS if the weights don't load, and a linear-probe check confirms the features are real. This directly answers the professor's question with evidence.</a:t>
            </a:r>
          </a:p>
          <a:p>
            <a:r>
              <a:t>• Mention scale briefly — 512-pixel images, 2 T4 GPUs, about 9.5 hours — so they know it's a serious run.</a:t>
            </a:r>
          </a:p>
          <a:p>
            <a:r>
              <a:t>• Punchline: this time 288 of 288 transformer blocks loaded correctly — it really is RETFound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Walk the numbers against the paper, not in isolation — that's what makes it a reproduction.</a:t>
            </a:r>
          </a:p>
          <a:p>
            <a:r>
              <a:t>• Grade accuracy 0.809 vs the paper's 0.822: say the confidence intervals overlap, so it's a statistical match, not a shortfall.</a:t>
            </a:r>
          </a:p>
          <a:p>
            <a:r>
              <a:t>• Note the one metric that's lower (lesion F1) is a threshold-calibration issue — tuning thresholds lifts it to 0.674, and the ranking quality (AUROC) is already excellent.</a:t>
            </a:r>
          </a:p>
          <a:p>
            <a:r>
              <a:t>• Close with the headline: +14.4 points over the broken run, and 3 of 4 metrics match the paper. The experiment succeeded.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Motivate with the scarcity number: only 238 retinal-detachment cases. Make it concrete — you can't learn much from copying the same 238 pictures.</a:t>
            </a:r>
          </a:p>
          <a:p>
            <a:r>
              <a:t>• Frame the hypothesis as reasonable: if we could GENERATE new, varied rare-lesion images, maybe the model learns the lesion better than from duplicates.</a:t>
            </a:r>
          </a:p>
          <a:p>
            <a:r>
              <a:t>• Stress the test is pre-registered and fair: the yardstick is rare-class recall on a test set that is 100% real — no synthetic images sneak into evaluation.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Keep the diffusion explanation light: a diffusion model learns to turn noise into realistic images; 'conditional' means we can ask it specifically for rare-lesion retinas.</a:t>
            </a:r>
          </a:p>
          <a:p>
            <a:r>
              <a:t>• Be honest about scope: the runnable version is a small 64-pixel proof-of-concept; the full-scale design (256px latent diffusion) is documented but not the one we trained here.</a:t>
            </a:r>
          </a:p>
          <a:p>
            <a:r>
              <a:t>• Explain the 3-regime comparison clearly: same model, same real val/test, only the training data differs — real, real+oversample, real+synthetic. That isolates the effect of synthetic data.</a:t>
            </a:r>
          </a:p>
          <a:p>
            <a:r>
              <a:t>• Mention guardrails so they know we watched for collateral damage to the grade and common-lesion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Deliver the negative result confidently — this is a real finding, not a failure to present around.</a:t>
            </a:r>
          </a:p>
          <a:p>
            <a:r>
              <a:t>• First, the generator itself trained fine (loss went down, no collapse). So the pipeline works.</a:t>
            </a:r>
          </a:p>
          <a:p>
            <a:r>
              <a:t>• But fidelity is poor: an FID of ~200–247 against a floor of ~27 means the synthetic images are far from real retinas — they get the shape and colour but no real vessels or lesions.</a:t>
            </a:r>
          </a:p>
          <a:p>
            <a:r>
              <a:t>• The downstream numbers follow: real-only is BEST (0.878), synthetic is worse, oversampling worst; and the rarest class actually gets hurt.</a:t>
            </a:r>
          </a:p>
          <a:p>
            <a:r>
              <a:t>• End on the contribution: the negative result is valuable because it pinpoints WHERE the problem is — image fidelity — so a future higher-resolution generator is the right next step, not a different recipe.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Introduce this as the concluding experiment — the professor's final ask: test the trained models on data they've never seen.</a:t>
            </a:r>
          </a:p>
          <a:p>
            <a:r>
              <a:t>• Explain the design choice: we only transfer the GRADE task, because the 0-4 severity scale is shared across public datasets, whereas our 7-lesion scheme is specific to MMRDR.</a:t>
            </a:r>
          </a:p>
          <a:p>
            <a:r>
              <a:t>• Name the datasets — APTOS and IDRiD — and stress they're different populations, so this is a genuine domain-shift test.</a:t>
            </a:r>
          </a:p>
          <a:p>
            <a:r>
              <a:t>• Explain the control: one model was trained on a DIFFERENT imaging modality (UWF), so we EXPECT it to transfer worse — it's a sanity check that the method measures what we think.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Define the two settings simply: zero-shot = we ask the model cold, no new training. Few-shot = we let it see just a handful of labelled examples and fit a tiny classifier on top of frozen features.</a:t>
            </a:r>
          </a:p>
          <a:p>
            <a:r>
              <a:t>• Explain why QWK is the headline: it rewards being CLOSE on an ordinal scale (predicting grade 3 for a 4 is better than predicting 0), and it's robust when datasets have different grade proportions.</a:t>
            </a:r>
          </a:p>
          <a:p>
            <a:r>
              <a:t>• Keep it brief — the audience mainly needs to trust the metric before seeing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Lead with the winner: RETFound, the foundation model, transfers best zero-shot on the clean APTOS data (0.860). That's the satisfying result — the pre-training pays off on unseen data.</a:t>
            </a:r>
          </a:p>
          <a:p>
            <a:r>
              <a:t>• Note the datasets differ in difficulty: on IDRiD everything drops, and the ranking shuffles — be honest that IDRiD is harder / noisier.</a:t>
            </a:r>
          </a:p>
          <a:p>
            <a:r>
              <a:t>• Few-shot: just 20 examples per class lift performance further, showing the features are useful even where the raw head isn't perfect.</a:t>
            </a:r>
          </a:p>
          <a:p>
            <a:r>
              <a:t>• Handle the control carefully and honestly: the UWF model IS worse (0.689 vs 0.86) — modality matters — but it's not random, because QWK is forgiving on an ordinal scale. Don't overclaim it 'failed'.</a:t>
            </a:r>
          </a:p>
          <a:p>
            <a:r>
              <a:t>• State the caveat plainly: the external sets are augmented, so few-shot looks a bit rosy; zero-shot is the number to trust.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Tie the three together: correctly-done reproduction (II), an honest negative on synthetic data (X), and successful generalization (XI).</a:t>
            </a:r>
          </a:p>
          <a:p>
            <a:r>
              <a:t>• Reinforce the meta-point for the professor: the value across all three is rigorous, verifiable evaluation — we prove our weights loaded, we test on 100%-real data, and we report failures.</a:t>
            </a:r>
          </a:p>
          <a:p>
            <a:r>
              <a:t>•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377440"/>
          </a:xfrm>
          <a:prstGeom prst="rect">
            <a:avLst/>
          </a:prstGeom>
          <a:solidFill>
            <a:srgbClr val="142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22860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Deep Learning for Diabetic Retinopathy</a:t>
            </a:r>
          </a:p>
          <a:p>
            <a:pPr algn="ctr">
              <a:defRPr sz="2000">
                <a:solidFill>
                  <a:srgbClr val="DDE4EF"/>
                </a:solidFill>
              </a:defRPr>
            </a:pPr>
            <a:r>
              <a:t>Three Key Experiments in Diabetic Retinopathy Deep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93776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i="1">
                <a:solidFill>
                  <a:srgbClr val="444A52"/>
                </a:solidFill>
              </a:defRPr>
            </a:pPr>
            <a:r>
              <a:t>Foundation Models  ·  Synthetic Data  ·  Cross-Dataset Generalization</a:t>
            </a:r>
          </a:p>
          <a:p/>
          <a:p>
            <a:pPr algn="ctr">
              <a:defRPr sz="1500" b="1">
                <a:solidFill>
                  <a:srgbClr val="142E54"/>
                </a:solidFill>
              </a:defRPr>
            </a:pPr>
            <a:r>
              <a:t>Krrish Baghla  |  Research Intern, Dept. of CSE, IIT (BHU)</a:t>
            </a:r>
          </a:p>
          <a:p>
            <a:pPr algn="ctr">
              <a:defRPr sz="1200">
                <a:solidFill>
                  <a:srgbClr val="444A52"/>
                </a:solidFill>
              </a:defRPr>
            </a:pPr>
            <a:r>
              <a:t>Supervisor: Dr. Sanjay Kumar Singh  |  MMRDR Diabetic Retinopathy Project (Paper 2)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42E54"/>
                </a:solidFill>
              </a:defRPr>
            </a:pPr>
            <a:r>
              <a:t>Roadmap</a:t>
            </a:r>
          </a:p>
          <a:p>
            <a:pPr>
              <a:defRPr sz="1700" i="1">
                <a:solidFill>
                  <a:srgbClr val="1F5CA8"/>
                </a:solidFill>
              </a:defRPr>
            </a:pPr>
            <a:r>
              <a:t>Three experiments from the MMRDR study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508760"/>
            <a:ext cx="11064240" cy="38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900">
                <a:solidFill>
                  <a:srgbClr val="222830"/>
                </a:solidFill>
              </a:defRPr>
            </a:pPr>
            <a:r>
              <a:t>•  The dataset: MMRDR multimodal retinal images — DR grade 0-4 (ICDR) + 7-lesion detection.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900">
                <a:solidFill>
                  <a:srgbClr val="222830"/>
                </a:solidFill>
              </a:defRPr>
            </a:pPr>
            <a:r>
              <a:t>•  Experiment II — RETFound: can a retinal foundation model reproduce the paper's baseline?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900">
                <a:solidFill>
                  <a:srgbClr val="222830"/>
                </a:solidFill>
              </a:defRPr>
            </a:pPr>
            <a:r>
              <a:t>•  Experiment X — Synthetic data: can generated rare-lesion images beat oversampling?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900">
                <a:solidFill>
                  <a:srgbClr val="222830"/>
                </a:solidFill>
              </a:defRPr>
            </a:pPr>
            <a:r>
              <a:t>•  Experiment XI — Transfer: do our models generalize to brand-new, unseen datasets?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900">
                <a:solidFill>
                  <a:srgbClr val="222830"/>
                </a:solidFill>
              </a:defRPr>
            </a:pPr>
            <a:r>
              <a:t>•  Theme: each experiment is an honest test — including when the answer is “no”.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0A6AE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42E54"/>
                </a:solidFill>
              </a:defRPr>
            </a:pPr>
            <a:r>
              <a:t>Experiment II — RETFound Foundation Model</a:t>
            </a:r>
          </a:p>
          <a:p>
            <a:pPr>
              <a:defRPr sz="1700" i="1">
                <a:solidFill>
                  <a:srgbClr val="1F5CA8"/>
                </a:solidFill>
              </a:defRPr>
            </a:pPr>
            <a:r>
              <a:t>The question &amp; the hidden bug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508760"/>
            <a:ext cx="11064240" cy="38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900">
                <a:solidFill>
                  <a:srgbClr val="222830"/>
                </a:solidFill>
              </a:defRPr>
            </a:pPr>
            <a:r>
              <a:t>•  Goal: fine-tune RETFound (a retinal foundation model, MAE-pretrained ViT-Large) on CFP images for DR grading + lesion detection.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900">
                <a:solidFill>
                  <a:srgbClr val="222830"/>
                </a:solidFill>
              </a:defRPr>
            </a:pPr>
            <a:r>
              <a:t>•  Earlier attempt scored only 66.5% — the professor asked: “how are you sure you froze early layers and trained the last?”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900">
                <a:solidFill>
                  <a:srgbClr val="222830"/>
                </a:solidFill>
              </a:defRPr>
            </a:pPr>
            <a:r>
              <a:t>•  That question exposed two real bugs:</a:t>
            </a:r>
          </a:p>
          <a:p>
            <a:pPr lvl="1"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444A52"/>
                </a:solidFill>
              </a:defRPr>
            </a:pPr>
            <a:r>
              <a:t>▪  Only 4 of 294 pretrained tensors actually loaded → we trained a RANDOM ViT, not RETFound.</a:t>
            </a:r>
          </a:p>
          <a:p>
            <a:pPr lvl="1"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444A52"/>
                </a:solidFill>
              </a:defRPr>
            </a:pPr>
            <a:r>
              <a:t>▪  The freeze loop was a silent no-op → nothing was frozen.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900">
                <a:solidFill>
                  <a:srgbClr val="222830"/>
                </a:solidFill>
              </a:defRPr>
            </a:pPr>
            <a:r>
              <a:t>•  So 66.5% was never a RETFound result. We rebuilt it properly.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0A6AE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42E54"/>
                </a:solidFill>
              </a:defRPr>
            </a:pPr>
            <a:r>
              <a:t>Experiment II — Method</a:t>
            </a:r>
          </a:p>
          <a:p>
            <a:pPr>
              <a:defRPr sz="1700" i="1">
                <a:solidFill>
                  <a:srgbClr val="1F5CA8"/>
                </a:solidFill>
              </a:defRPr>
            </a:pPr>
            <a:r>
              <a:t>Doing the fine-tune correctly, and proving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508760"/>
            <a:ext cx="11064240" cy="38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9728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500">
                <a:solidFill>
                  <a:srgbClr val="222830"/>
                </a:solidFill>
              </a:defRPr>
            </a:pPr>
            <a:r>
              <a:t>•  timm vit_large_patch16_224 at 512×512 so RETFound's MAE weights match natively — no fragile key remapping.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500">
                <a:solidFill>
                  <a:srgbClr val="222830"/>
                </a:solidFill>
              </a:defRPr>
            </a:pPr>
            <a:r>
              <a:t>•  Full fine-tune (0 frozen params, asserted), official train/test split (matching the paper), layer-wise LR decay.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500">
                <a:solidFill>
                  <a:srgbClr val="222830"/>
                </a:solidFill>
              </a:defRPr>
            </a:pPr>
            <a:r>
              <a:t>•  fp16 + gradient checkpointing on 2×T4 GPUs, 30 epochs (~9.5 h).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500">
                <a:solidFill>
                  <a:srgbClr val="222830"/>
                </a:solidFill>
              </a:defRPr>
            </a:pPr>
            <a:r>
              <a:t>•  Verification built in: weight-load hard-fails unless ≥95% of blocks match; a linear-probe sanity check must beat the majority baseline.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500">
                <a:solidFill>
                  <a:srgbClr val="222830"/>
                </a:solidFill>
              </a:defRPr>
            </a:pPr>
            <a:r>
              <a:t>•  Result: 288/288 blocks loaded, 0 missing — this time it really is RETFound.</a:t>
            </a:r>
          </a:p>
        </p:txBody>
      </p:sp>
      <p:pic>
        <p:nvPicPr>
          <p:cNvPr id="5" name="Picture 4" descr="exp2-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799" y="4114800"/>
            <a:ext cx="8595360" cy="2148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444A52"/>
                </a:solidFill>
              </a:defRPr>
            </a:pPr>
            <a:r>
              <a:t>Training &amp; validation curves over 30 epochs — loss falls monotonically (no overfitting).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0A6AE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42E54"/>
                </a:solidFill>
              </a:defRPr>
            </a:pPr>
            <a:r>
              <a:t>Experiment II — Results</a:t>
            </a:r>
          </a:p>
          <a:p>
            <a:pPr>
              <a:defRPr sz="1700" i="1">
                <a:solidFill>
                  <a:srgbClr val="1F5CA8"/>
                </a:solidFill>
              </a:defRPr>
            </a:pPr>
            <a:r>
              <a:t>Matches the published baseline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508760"/>
            <a:ext cx="11064240" cy="38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9728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500">
                <a:solidFill>
                  <a:srgbClr val="222830"/>
                </a:solidFill>
              </a:defRPr>
            </a:pPr>
            <a:r>
              <a:t>•  Grade accuracy 0.809 (paper 0.822) — CI overlaps → statistical match.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500">
                <a:solidFill>
                  <a:srgbClr val="222830"/>
                </a:solidFill>
              </a:defRPr>
            </a:pPr>
            <a:r>
              <a:t>•  Grade macro-F1 0.692 (paper 0.714); Lesion accuracy 0.948 (paper 0.951).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500">
                <a:solidFill>
                  <a:srgbClr val="222830"/>
                </a:solidFill>
              </a:defRPr>
            </a:pPr>
            <a:r>
              <a:t>•  Lesion macro-F1 0.605, rising to 0.674 with tuned thresholds (paper 0.682).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500">
                <a:solidFill>
                  <a:srgbClr val="222830"/>
                </a:solidFill>
              </a:defRPr>
            </a:pPr>
            <a:r>
              <a:t>•  Quadratic kappa 0.884, macro-AUROC 0.971.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500">
                <a:solidFill>
                  <a:srgbClr val="222830"/>
                </a:solidFill>
              </a:defRPr>
            </a:pPr>
            <a:r>
              <a:t>•  Bottom line: +14.4 points over the broken run; 3 of 4 headline metrics statistically match the paper.</a:t>
            </a:r>
          </a:p>
        </p:txBody>
      </p:sp>
      <p:pic>
        <p:nvPicPr>
          <p:cNvPr id="5" name="Picture 4" descr="exp2-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1360" y="4114800"/>
            <a:ext cx="5730240" cy="2148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444A52"/>
                </a:solidFill>
              </a:defRPr>
            </a:pPr>
            <a:r>
              <a:t>Per-grade and per-lesion breakdown of the rebuilt RETFound run.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0A6AE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42E54"/>
                </a:solidFill>
              </a:defRPr>
            </a:pPr>
            <a:r>
              <a:t>Experiment X — Synthetic Minority Generation</a:t>
            </a:r>
          </a:p>
          <a:p>
            <a:pPr>
              <a:defRPr sz="1700" i="1">
                <a:solidFill>
                  <a:srgbClr val="1F5CA8"/>
                </a:solidFill>
              </a:defRPr>
            </a:pPr>
            <a:r>
              <a:t>The question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508760"/>
            <a:ext cx="11064240" cy="38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900">
                <a:solidFill>
                  <a:srgbClr val="222830"/>
                </a:solidFill>
              </a:defRPr>
            </a:pPr>
            <a:r>
              <a:t>•  Rare lesions are scarce — only 238 retinal-detachment (RD) positives (2.3% of UWF).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900">
                <a:solidFill>
                  <a:srgbClr val="222830"/>
                </a:solidFill>
              </a:defRPr>
            </a:pPr>
            <a:r>
              <a:t>•  Oversampling can only duplicate the same few images → the model memorises them.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900">
                <a:solidFill>
                  <a:srgbClr val="222830"/>
                </a:solidFill>
              </a:defRPr>
            </a:pPr>
            <a:r>
              <a:t>•  Idea: generate NEW synthetic rare-lesion retinas with a diffusion model to add real variety.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900">
                <a:solidFill>
                  <a:srgbClr val="222830"/>
                </a:solidFill>
              </a:defRPr>
            </a:pPr>
            <a:r>
              <a:t>•  The decisive test: does adding synthetic images raise rare-class recall on a 100%-real held-out test set, vs real-only and vs oversampling?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0A6AE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42E54"/>
                </a:solidFill>
              </a:defRPr>
            </a:pPr>
            <a:r>
              <a:t>Experiment X — Method</a:t>
            </a:r>
          </a:p>
          <a:p>
            <a:pPr>
              <a:defRPr sz="1700" i="1">
                <a:solidFill>
                  <a:srgbClr val="1F5CA8"/>
                </a:solidFill>
              </a:defRPr>
            </a:pPr>
            <a:r>
              <a:t>Conditional diffusion + a fair downstream test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508760"/>
            <a:ext cx="11064240" cy="38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9728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500">
                <a:solidFill>
                  <a:srgbClr val="222830"/>
                </a:solidFill>
              </a:defRPr>
            </a:pPr>
            <a:r>
              <a:t>•  Generator: a compact conditional pixel-space DDPM (SmallCondUNet, 64×64) with classifier-free guidance (w=3).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500">
                <a:solidFill>
                  <a:srgbClr val="222830"/>
                </a:solidFill>
              </a:defRPr>
            </a:pPr>
            <a:r>
              <a:t>•  Production design documented: LoRA latent-diffusion at 256×256 (the runnable slice is the 64px proof-of-concept).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500">
                <a:solidFill>
                  <a:srgbClr val="222830"/>
                </a:solidFill>
              </a:defRPr>
            </a:pPr>
            <a:r>
              <a:t>•  Downstream test: train the classifier under 3 regimes — real only, real+oversample, real+synthetic — on ONE frozen split.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500">
                <a:solidFill>
                  <a:srgbClr val="222830"/>
                </a:solidFill>
              </a:defRPr>
            </a:pPr>
            <a:r>
              <a:t>•  Validation &amp; test sets are 100% real and identical across regimes; thresholds fitted on validation only.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500">
                <a:solidFill>
                  <a:srgbClr val="222830"/>
                </a:solidFill>
              </a:defRPr>
            </a:pPr>
            <a:r>
              <a:t>•  Guardrails watched: grade kappa and common-lesion F1.</a:t>
            </a:r>
          </a:p>
        </p:txBody>
      </p:sp>
      <p:pic>
        <p:nvPicPr>
          <p:cNvPr id="5" name="Picture 4" descr="exp10-meth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8259" y="4114800"/>
            <a:ext cx="5216441" cy="2148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444A52"/>
                </a:solidFill>
              </a:defRPr>
            </a:pPr>
            <a:r>
              <a:t>Conditional-DDPM pipeline: add noise -&gt; predict noise -&gt; classifier-free guidance.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0A6AE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42E54"/>
                </a:solidFill>
              </a:defRPr>
            </a:pPr>
            <a:r>
              <a:t>Experiment X — Results: a clean negative</a:t>
            </a:r>
          </a:p>
          <a:p>
            <a:pPr>
              <a:defRPr sz="1700" i="1">
                <a:solidFill>
                  <a:srgbClr val="1F5CA8"/>
                </a:solidFill>
              </a:defRPr>
            </a:pPr>
            <a:r>
              <a:t>Generation converged, but did not help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508760"/>
            <a:ext cx="11064240" cy="38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9728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500">
                <a:solidFill>
                  <a:srgbClr val="222830"/>
                </a:solidFill>
              </a:defRPr>
            </a:pPr>
            <a:r>
              <a:t>•  Generator converged stably (loss 0.081 → 0.016), no mode collapse.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500">
                <a:solidFill>
                  <a:srgbClr val="222830"/>
                </a:solidFill>
              </a:defRPr>
            </a:pPr>
            <a:r>
              <a:t>•  But fidelity is poor: FID 200 (64px) / 247 (256px) vs a real-vs-real floor of only ~27–29.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500">
                <a:solidFill>
                  <a:srgbClr val="222830"/>
                </a:solidFill>
              </a:defRPr>
            </a:pPr>
            <a:r>
              <a:t>•  Downstream verdict is NEGATIVE:</a:t>
            </a:r>
          </a:p>
          <a:p>
            <a:pPr lvl="1">
              <a:lnSpc>
                <a:spcPct val="105000"/>
              </a:lnSpc>
              <a:spcAft>
                <a:spcPts val="500"/>
              </a:spcAft>
              <a:defRPr sz="1300">
                <a:solidFill>
                  <a:srgbClr val="444A52"/>
                </a:solidFill>
              </a:defRPr>
            </a:pPr>
            <a:r>
              <a:t>▪  Rare recall — real-only 0.878  &gt;  +synthetic 0.833  &gt;  +oversample 0.807.</a:t>
            </a:r>
          </a:p>
          <a:p>
            <a:pPr lvl="1">
              <a:lnSpc>
                <a:spcPct val="105000"/>
              </a:lnSpc>
              <a:spcAft>
                <a:spcPts val="500"/>
              </a:spcAft>
              <a:defRPr sz="1300">
                <a:solidFill>
                  <a:srgbClr val="444A52"/>
                </a:solidFill>
              </a:defRPr>
            </a:pPr>
            <a:r>
              <a:t>▪  RD (rarest class) actually drops from 0.839 to 0.710 with synthetic data.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500">
                <a:solidFill>
                  <a:srgbClr val="222830"/>
                </a:solidFill>
              </a:defRPr>
            </a:pPr>
            <a:r>
              <a:t>•  The contribution is the honest negative result: the bottleneck is generation fidelity (the FID gate), not the augmentation recipe.</a:t>
            </a:r>
          </a:p>
        </p:txBody>
      </p:sp>
      <p:pic>
        <p:nvPicPr>
          <p:cNvPr id="5" name="Picture 4" descr="exp10-verdi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4614" y="4114800"/>
            <a:ext cx="6983730" cy="2148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444A52"/>
                </a:solidFill>
              </a:defRPr>
            </a:pPr>
            <a:r>
              <a:t>Downstream verdict on the 100%-real test set: the real-only bars stay highest.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0A6AE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42E54"/>
                </a:solidFill>
              </a:defRPr>
            </a:pPr>
            <a:r>
              <a:t>Experiment XI — Zero-Shot &amp; Few-Shot Transfer</a:t>
            </a:r>
          </a:p>
          <a:p>
            <a:pPr>
              <a:defRPr sz="1700" i="1">
                <a:solidFill>
                  <a:srgbClr val="1F5CA8"/>
                </a:solidFill>
              </a:defRPr>
            </a:pPr>
            <a:r>
              <a:t>The concluding generalization study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508760"/>
            <a:ext cx="11064240" cy="38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900">
                <a:solidFill>
                  <a:srgbClr val="222830"/>
                </a:solidFill>
              </a:defRPr>
            </a:pPr>
            <a:r>
              <a:t>•  Question: do models trained on MMRDR generalize to brand-new, unseen datasets they never saw?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900">
                <a:solidFill>
                  <a:srgbClr val="222830"/>
                </a:solidFill>
              </a:defRPr>
            </a:pPr>
            <a:r>
              <a:t>•  Grade 0-4 only — the one label space that transfers cleanly (the 7-lesion scheme is MMRDR-specific).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900">
                <a:solidFill>
                  <a:srgbClr val="222830"/>
                </a:solidFill>
              </a:defRPr>
            </a:pPr>
            <a:r>
              <a:t>•  Unseen datasets: APTOS 2019 and IDRiD — both CFP fundus, same ICDR 0-4 scale, different populations.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900">
                <a:solidFill>
                  <a:srgbClr val="222830"/>
                </a:solidFill>
              </a:defRPr>
            </a:pPr>
            <a:r>
              <a:t>•  Top-3 models tested: MS-LAN (Exp I, CFP), RETFound (Exp II, CFP), and a UWF model (Exp VI) as a deliberate negative control.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0A6AE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42E54"/>
                </a:solidFill>
              </a:defRPr>
            </a:pPr>
            <a:r>
              <a:t>Experiment XI — Method</a:t>
            </a:r>
          </a:p>
          <a:p>
            <a:pPr>
              <a:defRPr sz="1700" i="1">
                <a:solidFill>
                  <a:srgbClr val="1F5CA8"/>
                </a:solidFill>
              </a:defRPr>
            </a:pPr>
            <a:r>
              <a:t>Two protocols, one ordinal headline metric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508760"/>
            <a:ext cx="11064240" cy="38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900">
                <a:solidFill>
                  <a:srgbClr val="222830"/>
                </a:solidFill>
              </a:defRPr>
            </a:pPr>
            <a:r>
              <a:t>•  Zero-shot (k=0): use the frozen model's own grade head, argmax on the external test — no fitting at all.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900">
                <a:solidFill>
                  <a:srgbClr val="222830"/>
                </a:solidFill>
              </a:defRPr>
            </a:pPr>
            <a:r>
              <a:t>•  Few-shot: freeze the backbone, fit a small linear probe on k images/class (k = 1, 5, 10, 20), 5 episodes, report mean ± std.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900">
                <a:solidFill>
                  <a:srgbClr val="222830"/>
                </a:solidFill>
              </a:defRPr>
            </a:pPr>
            <a:r>
              <a:t>•  Headline metric: quadratic-weighted kappa (QWK) — ordinal and robust to the grade-prior shift between datasets.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900">
                <a:solidFill>
                  <a:srgbClr val="222830"/>
                </a:solidFill>
              </a:defRPr>
            </a:pPr>
            <a:r>
              <a:t>•  Also reported: accuracy, balanced accuracy, macro-F1.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0A6AE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42E54"/>
                </a:solidFill>
              </a:defRPr>
            </a:pPr>
            <a:r>
              <a:t>Experiment XI — Results</a:t>
            </a:r>
          </a:p>
          <a:p>
            <a:pPr>
              <a:defRPr sz="1700" i="1">
                <a:solidFill>
                  <a:srgbClr val="1F5CA8"/>
                </a:solidFill>
              </a:defRPr>
            </a:pPr>
            <a:r>
              <a:t>Foundation model transfers best; modality matters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508760"/>
            <a:ext cx="11064240" cy="38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600">
                <a:solidFill>
                  <a:srgbClr val="222830"/>
                </a:solidFill>
              </a:defRPr>
            </a:pPr>
            <a:r>
              <a:t>•  RETFound generalizes best zero-shot; few-shot (k up to 20) lifts every model further.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00">
                <a:solidFill>
                  <a:srgbClr val="222830"/>
                </a:solidFill>
              </a:defRPr>
            </a:pPr>
            <a:r>
              <a:t>•  The UWF control is measurably weaker (modality matters) but not near-chance.</a:t>
            </a:r>
          </a:p>
        </p:txBody>
      </p:sp>
      <p:pic>
        <p:nvPicPr>
          <p:cNvPr id="5" name="Picture 4" descr="exp11-zero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71576"/>
            <a:ext cx="5532120" cy="328080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126480"/>
            <a:ext cx="5532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444A52"/>
                </a:solidFill>
              </a:defRPr>
            </a:pPr>
            <a:r>
              <a:t>Zero-shot QWK by model and dataset</a:t>
            </a:r>
          </a:p>
        </p:txBody>
      </p:sp>
      <p:pic>
        <p:nvPicPr>
          <p:cNvPr id="7" name="Picture 6" descr="exp11-fewsh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3203658"/>
            <a:ext cx="5532120" cy="241664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72200" y="6126480"/>
            <a:ext cx="5532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444A52"/>
                </a:solidFill>
              </a:defRPr>
            </a:pPr>
            <a:r>
              <a:t>Few-shot QWK vs. k  (mean +/- std)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0A6AE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42E54"/>
                </a:solidFill>
              </a:defRPr>
            </a:pPr>
            <a:r>
              <a:t>Takeaways</a:t>
            </a:r>
          </a:p>
          <a:p>
            <a:pPr>
              <a:defRPr sz="1700" i="1">
                <a:solidFill>
                  <a:srgbClr val="1F5CA8"/>
                </a:solidFill>
              </a:defRPr>
            </a:pPr>
            <a:r>
              <a:t>What the three experiments show together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508760"/>
            <a:ext cx="11064240" cy="38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900">
                <a:solidFill>
                  <a:srgbClr val="222830"/>
                </a:solidFill>
              </a:defRPr>
            </a:pPr>
            <a:r>
              <a:t>•  Exp II: done correctly, a foundation model reproduces the published baseline — and verification catches silent failures.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900">
                <a:solidFill>
                  <a:srgbClr val="222830"/>
                </a:solidFill>
              </a:defRPr>
            </a:pPr>
            <a:r>
              <a:t>•  Exp X: generated data did not beat oversampling; an honest negative result that localises the bottleneck (fidelity).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900">
                <a:solidFill>
                  <a:srgbClr val="222830"/>
                </a:solidFill>
              </a:defRPr>
            </a:pPr>
            <a:r>
              <a:t>•  Exp XI: MMRDR-trained CFP models genuinely generalize to unseen datasets; RETFound generalizes best.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900">
                <a:solidFill>
                  <a:srgbClr val="222830"/>
                </a:solidFill>
              </a:defRPr>
            </a:pPr>
            <a:r>
              <a:t>•  Common thread: rigorous, honest evaluation — including reporting when a method fails.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0A6AE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